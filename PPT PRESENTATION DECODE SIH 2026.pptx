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1" r:id="rId6"/>
    <p:sldId id="263" r:id="rId7"/>
    <p:sldId id="264" r:id="rId8"/>
    <p:sldId id="269" r:id="rId9"/>
    <p:sldId id="268" r:id="rId10"/>
    <p:sldId id="270" r:id="rId11"/>
    <p:sldId id="271" r:id="rId12"/>
    <p:sldId id="272" r:id="rId13"/>
    <p:sldId id="273" r:id="rId14"/>
    <p:sldId id="274" r:id="rId15"/>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theme" Target="theme/theme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5.png" /><Relationship Id="rId5" Type="http://schemas.openxmlformats.org/officeDocument/2006/relationships/image" Target="../media/image4.png" /><Relationship Id="rId4" Type="http://schemas.openxmlformats.org/officeDocument/2006/relationships/image" Target="../media/image3.png" /></Relationships>
</file>

<file path=ppt/slides/_rels/slide2.xml.rels><?xml version="1.0" encoding="UTF-8" standalone="yes"?>
<Relationships xmlns="http://schemas.openxmlformats.org/package/2006/relationships"><Relationship Id="rId3" Type="http://schemas.openxmlformats.org/officeDocument/2006/relationships/image" Target="../media/image2.png" /><Relationship Id="rId7" Type="http://schemas.openxmlformats.org/officeDocument/2006/relationships/image" Target="../media/image6.pn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5.png" /><Relationship Id="rId5" Type="http://schemas.openxmlformats.org/officeDocument/2006/relationships/image" Target="../media/image4.png" /><Relationship Id="rId4" Type="http://schemas.openxmlformats.org/officeDocument/2006/relationships/image" Target="../media/image3.png" /></Relationships>
</file>

<file path=ppt/slides/_rels/slide3.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7.xml" /><Relationship Id="rId5" Type="http://schemas.openxmlformats.org/officeDocument/2006/relationships/image" Target="../media/image5.png" /><Relationship Id="rId4" Type="http://schemas.openxmlformats.org/officeDocument/2006/relationships/image" Target="../media/image4.png" /></Relationships>
</file>

<file path=ppt/slides/_rels/slide4.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5.png" /><Relationship Id="rId5" Type="http://schemas.openxmlformats.org/officeDocument/2006/relationships/image" Target="../media/image4.png" /><Relationship Id="rId4" Type="http://schemas.openxmlformats.org/officeDocument/2006/relationships/image" Target="../media/image3.png" /></Relationships>
</file>

<file path=ppt/slides/_rels/slide5.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5.png" /><Relationship Id="rId5" Type="http://schemas.openxmlformats.org/officeDocument/2006/relationships/image" Target="../media/image4.png" /><Relationship Id="rId4" Type="http://schemas.openxmlformats.org/officeDocument/2006/relationships/image" Target="../media/image3.png" /></Relationships>
</file>

<file path=ppt/slides/_rels/slide6.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5.png" /><Relationship Id="rId5" Type="http://schemas.openxmlformats.org/officeDocument/2006/relationships/image" Target="../media/image4.png" /><Relationship Id="rId4" Type="http://schemas.openxmlformats.org/officeDocument/2006/relationships/image" Target="../media/image3.png" /></Relationships>
</file>

<file path=ppt/slides/_rels/slide7.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5.png" /><Relationship Id="rId5" Type="http://schemas.openxmlformats.org/officeDocument/2006/relationships/image" Target="../media/image4.png" /><Relationship Id="rId4" Type="http://schemas.openxmlformats.org/officeDocument/2006/relationships/image" Target="../media/image3.png" /></Relationships>
</file>

<file path=ppt/slides/_rels/slide8.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2" Type="http://schemas.openxmlformats.org/officeDocument/2006/relationships/image" Target="../media/image8.png"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8288000" cy="10287000"/>
          </a:xfrm>
          <a:prstGeom prst="rect">
            <a:avLst/>
          </a:prstGeom>
        </p:spPr>
      </p:pic>
      <p:pic>
        <p:nvPicPr>
          <p:cNvPr id="3" name="Picture 2" descr="image.png"/>
          <p:cNvPicPr>
            <a:picLocks noChangeAspect="1"/>
          </p:cNvPicPr>
          <p:nvPr/>
        </p:nvPicPr>
        <p:blipFill>
          <a:blip r:embed="rId3"/>
          <a:stretch>
            <a:fillRect/>
          </a:stretch>
        </p:blipFill>
        <p:spPr>
          <a:xfrm>
            <a:off x="10331450" y="1752600"/>
            <a:ext cx="7956550" cy="8534400"/>
          </a:xfrm>
          <a:prstGeom prst="rect">
            <a:avLst/>
          </a:prstGeom>
        </p:spPr>
      </p:pic>
      <p:pic>
        <p:nvPicPr>
          <p:cNvPr id="4" name="Picture 3" descr="image.png"/>
          <p:cNvPicPr>
            <a:picLocks noChangeAspect="1"/>
          </p:cNvPicPr>
          <p:nvPr/>
        </p:nvPicPr>
        <p:blipFill>
          <a:blip r:embed="rId4"/>
          <a:stretch>
            <a:fillRect/>
          </a:stretch>
        </p:blipFill>
        <p:spPr>
          <a:xfrm>
            <a:off x="0" y="10097770"/>
            <a:ext cx="18288000" cy="189229"/>
          </a:xfrm>
          <a:prstGeom prst="rect">
            <a:avLst/>
          </a:prstGeom>
        </p:spPr>
      </p:pic>
      <p:pic>
        <p:nvPicPr>
          <p:cNvPr id="5" name="Picture 4" descr="image.png"/>
          <p:cNvPicPr>
            <a:picLocks noChangeAspect="1"/>
          </p:cNvPicPr>
          <p:nvPr/>
        </p:nvPicPr>
        <p:blipFill>
          <a:blip r:embed="rId5"/>
          <a:stretch>
            <a:fillRect/>
          </a:stretch>
        </p:blipFill>
        <p:spPr>
          <a:xfrm>
            <a:off x="9144000" y="10097770"/>
            <a:ext cx="9144000" cy="189229"/>
          </a:xfrm>
          <a:prstGeom prst="rect">
            <a:avLst/>
          </a:prstGeom>
        </p:spPr>
      </p:pic>
      <p:pic>
        <p:nvPicPr>
          <p:cNvPr id="6" name="Picture 5" descr="image.png"/>
          <p:cNvPicPr>
            <a:picLocks noChangeAspect="1"/>
          </p:cNvPicPr>
          <p:nvPr/>
        </p:nvPicPr>
        <p:blipFill>
          <a:blip r:embed="rId6"/>
          <a:stretch>
            <a:fillRect/>
          </a:stretch>
        </p:blipFill>
        <p:spPr>
          <a:xfrm>
            <a:off x="15500350" y="323850"/>
            <a:ext cx="615950" cy="615950"/>
          </a:xfrm>
          <a:prstGeom prst="rect">
            <a:avLst/>
          </a:prstGeom>
        </p:spPr>
      </p:pic>
      <p:sp>
        <p:nvSpPr>
          <p:cNvPr id="7" name="TextBox 6"/>
          <p:cNvSpPr txBox="1"/>
          <p:nvPr/>
        </p:nvSpPr>
        <p:spPr>
          <a:xfrm>
            <a:off x="16229330" y="464820"/>
            <a:ext cx="1663700" cy="406399"/>
          </a:xfrm>
          <a:prstGeom prst="rect">
            <a:avLst/>
          </a:prstGeom>
          <a:noFill/>
        </p:spPr>
        <p:txBody>
          <a:bodyPr wrap="none" lIns="0" tIns="0" rIns="0" bIns="0" anchor="ctr">
            <a:spAutoFit/>
          </a:bodyPr>
          <a:lstStyle/>
          <a:p>
            <a:r>
              <a:rPr sz="3200" b="1" spc="117">
                <a:solidFill>
                  <a:srgbClr val="303642"/>
                </a:solidFill>
                <a:latin typeface="Noto Serif"/>
              </a:rPr>
              <a:t>OSCode</a:t>
            </a:r>
          </a:p>
        </p:txBody>
      </p:sp>
      <p:sp>
        <p:nvSpPr>
          <p:cNvPr id="8" name="TextBox 7"/>
          <p:cNvSpPr txBox="1"/>
          <p:nvPr/>
        </p:nvSpPr>
        <p:spPr>
          <a:xfrm>
            <a:off x="16479519" y="795020"/>
            <a:ext cx="1418590" cy="177799"/>
          </a:xfrm>
          <a:prstGeom prst="rect">
            <a:avLst/>
          </a:prstGeom>
          <a:noFill/>
        </p:spPr>
        <p:txBody>
          <a:bodyPr wrap="none" lIns="0" tIns="0" rIns="0" bIns="0" anchor="ctr">
            <a:spAutoFit/>
          </a:bodyPr>
          <a:lstStyle/>
          <a:p>
            <a:r>
              <a:rPr sz="1400" spc="40">
                <a:solidFill>
                  <a:srgbClr val="303642"/>
                </a:solidFill>
                <a:latin typeface="Noto Serif"/>
              </a:rPr>
              <a:t>by community</a:t>
            </a:r>
            <a:r>
              <a:rPr sz="1400" b="1" spc="-25">
                <a:solidFill>
                  <a:srgbClr val="00AEEF"/>
                </a:solidFill>
                <a:latin typeface="Noto Serif"/>
              </a:rPr>
              <a:t>X</a:t>
            </a:r>
          </a:p>
        </p:txBody>
      </p:sp>
      <p:sp>
        <p:nvSpPr>
          <p:cNvPr id="9" name="TextBox 8"/>
          <p:cNvSpPr txBox="1"/>
          <p:nvPr/>
        </p:nvSpPr>
        <p:spPr>
          <a:xfrm>
            <a:off x="1028700" y="1117600"/>
            <a:ext cx="5389880" cy="609600"/>
          </a:xfrm>
          <a:prstGeom prst="rect">
            <a:avLst/>
          </a:prstGeom>
          <a:noFill/>
        </p:spPr>
        <p:txBody>
          <a:bodyPr wrap="none" lIns="0" tIns="0" rIns="0" bIns="0" anchor="ctr">
            <a:spAutoFit/>
          </a:bodyPr>
          <a:lstStyle/>
          <a:p>
            <a:r>
              <a:rPr sz="4800" b="1" spc="-5">
                <a:solidFill>
                  <a:srgbClr val="000000"/>
                </a:solidFill>
                <a:latin typeface="Noto Serif"/>
              </a:rPr>
              <a:t>DECODE SIH 2026</a:t>
            </a:r>
          </a:p>
        </p:txBody>
      </p:sp>
      <p:sp>
        <p:nvSpPr>
          <p:cNvPr id="10" name="TextBox 9"/>
          <p:cNvSpPr txBox="1"/>
          <p:nvPr/>
        </p:nvSpPr>
        <p:spPr>
          <a:xfrm>
            <a:off x="6418580" y="4804648"/>
            <a:ext cx="6316773" cy="738664"/>
          </a:xfrm>
          <a:prstGeom prst="rect">
            <a:avLst/>
          </a:prstGeom>
          <a:noFill/>
        </p:spPr>
        <p:txBody>
          <a:bodyPr wrap="square" lIns="0" tIns="0" rIns="0" bIns="0" anchor="ctr">
            <a:spAutoFit/>
          </a:bodyPr>
          <a:lstStyle/>
          <a:p>
            <a:r>
              <a:rPr lang="en-US" sz="4800" b="1" spc="100">
                <a:solidFill>
                  <a:srgbClr val="000000"/>
                </a:solidFill>
                <a:latin typeface="Noto Serif"/>
              </a:rPr>
              <a:t>SentinelSheild</a:t>
            </a:r>
            <a:r>
              <a:rPr lang="en-US" sz="4800" spc="100">
                <a:solidFill>
                  <a:srgbClr val="000000"/>
                </a:solidFill>
                <a:latin typeface="Noto Serif"/>
              </a:rPr>
              <a:t> </a:t>
            </a:r>
            <a:r>
              <a:rPr lang="en-US" sz="4800" b="1" spc="100">
                <a:solidFill>
                  <a:srgbClr val="000000"/>
                </a:solidFill>
                <a:latin typeface="Noto Serif"/>
              </a:rPr>
              <a:t>AI  </a:t>
            </a:r>
            <a:endParaRPr sz="4800" b="1" spc="100">
              <a:solidFill>
                <a:srgbClr val="000000"/>
              </a:solidFill>
              <a:latin typeface="Noto Serif"/>
            </a:endParaRPr>
          </a:p>
        </p:txBody>
      </p:sp>
      <p:sp>
        <p:nvSpPr>
          <p:cNvPr id="11" name="TextBox 10"/>
          <p:cNvSpPr txBox="1"/>
          <p:nvPr/>
        </p:nvSpPr>
        <p:spPr>
          <a:xfrm>
            <a:off x="1028700" y="8581390"/>
            <a:ext cx="2368550" cy="304800"/>
          </a:xfrm>
          <a:prstGeom prst="rect">
            <a:avLst/>
          </a:prstGeom>
          <a:noFill/>
        </p:spPr>
        <p:txBody>
          <a:bodyPr wrap="none" lIns="0" tIns="0" rIns="0" bIns="0" anchor="ctr">
            <a:spAutoFit/>
          </a:bodyPr>
          <a:lstStyle/>
          <a:p>
            <a:r>
              <a:rPr sz="2400" b="1" spc="-48">
                <a:solidFill>
                  <a:srgbClr val="000000"/>
                </a:solidFill>
                <a:latin typeface="Noto Serif"/>
              </a:rPr>
              <a:t>PRESENTED BY:</a:t>
            </a:r>
          </a:p>
        </p:txBody>
      </p:sp>
      <p:sp>
        <p:nvSpPr>
          <p:cNvPr id="12" name="TextBox 11"/>
          <p:cNvSpPr txBox="1"/>
          <p:nvPr/>
        </p:nvSpPr>
        <p:spPr>
          <a:xfrm>
            <a:off x="1028700" y="8907264"/>
            <a:ext cx="1314078" cy="369332"/>
          </a:xfrm>
          <a:prstGeom prst="rect">
            <a:avLst/>
          </a:prstGeom>
          <a:noFill/>
        </p:spPr>
        <p:txBody>
          <a:bodyPr wrap="none" lIns="0" tIns="0" rIns="0" bIns="0" anchor="ctr">
            <a:spAutoFit/>
          </a:bodyPr>
          <a:lstStyle/>
          <a:p>
            <a:r>
              <a:rPr lang="en-US" sz="2400" spc="-43">
                <a:solidFill>
                  <a:srgbClr val="000000"/>
                </a:solidFill>
                <a:latin typeface="Noto Serif"/>
              </a:rPr>
              <a:t>Visioners</a:t>
            </a:r>
            <a:endParaRPr sz="2400" spc="-43">
              <a:solidFill>
                <a:srgbClr val="000000"/>
              </a:solidFill>
              <a:latin typeface="Noto Serif"/>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8288000" cy="10287000"/>
          </a:xfrm>
          <a:prstGeom prst="rect">
            <a:avLst/>
          </a:prstGeom>
        </p:spPr>
      </p:pic>
      <p:pic>
        <p:nvPicPr>
          <p:cNvPr id="3" name="Picture 2" descr="image.png"/>
          <p:cNvPicPr>
            <a:picLocks noChangeAspect="1"/>
          </p:cNvPicPr>
          <p:nvPr/>
        </p:nvPicPr>
        <p:blipFill>
          <a:blip r:embed="rId3"/>
          <a:stretch>
            <a:fillRect/>
          </a:stretch>
        </p:blipFill>
        <p:spPr>
          <a:xfrm>
            <a:off x="10331450" y="1752600"/>
            <a:ext cx="7956550" cy="8534400"/>
          </a:xfrm>
          <a:prstGeom prst="rect">
            <a:avLst/>
          </a:prstGeom>
        </p:spPr>
      </p:pic>
      <p:pic>
        <p:nvPicPr>
          <p:cNvPr id="4" name="Picture 3" descr="image.png"/>
          <p:cNvPicPr>
            <a:picLocks noChangeAspect="1"/>
          </p:cNvPicPr>
          <p:nvPr/>
        </p:nvPicPr>
        <p:blipFill>
          <a:blip r:embed="rId4"/>
          <a:stretch>
            <a:fillRect/>
          </a:stretch>
        </p:blipFill>
        <p:spPr>
          <a:xfrm>
            <a:off x="0" y="10097770"/>
            <a:ext cx="18288000" cy="189229"/>
          </a:xfrm>
          <a:prstGeom prst="rect">
            <a:avLst/>
          </a:prstGeom>
        </p:spPr>
      </p:pic>
      <p:pic>
        <p:nvPicPr>
          <p:cNvPr id="5" name="Picture 4" descr="image.png"/>
          <p:cNvPicPr>
            <a:picLocks noChangeAspect="1"/>
          </p:cNvPicPr>
          <p:nvPr/>
        </p:nvPicPr>
        <p:blipFill>
          <a:blip r:embed="rId5"/>
          <a:stretch>
            <a:fillRect/>
          </a:stretch>
        </p:blipFill>
        <p:spPr>
          <a:xfrm>
            <a:off x="9144000" y="10097770"/>
            <a:ext cx="9144000" cy="189229"/>
          </a:xfrm>
          <a:prstGeom prst="rect">
            <a:avLst/>
          </a:prstGeom>
        </p:spPr>
      </p:pic>
      <p:pic>
        <p:nvPicPr>
          <p:cNvPr id="6" name="Picture 5" descr="image.png"/>
          <p:cNvPicPr>
            <a:picLocks noChangeAspect="1"/>
          </p:cNvPicPr>
          <p:nvPr/>
        </p:nvPicPr>
        <p:blipFill>
          <a:blip r:embed="rId6"/>
          <a:stretch>
            <a:fillRect/>
          </a:stretch>
        </p:blipFill>
        <p:spPr>
          <a:xfrm>
            <a:off x="15500350" y="323850"/>
            <a:ext cx="615950" cy="615950"/>
          </a:xfrm>
          <a:prstGeom prst="rect">
            <a:avLst/>
          </a:prstGeom>
        </p:spPr>
      </p:pic>
      <p:sp>
        <p:nvSpPr>
          <p:cNvPr id="7" name="TextBox 6"/>
          <p:cNvSpPr txBox="1"/>
          <p:nvPr/>
        </p:nvSpPr>
        <p:spPr>
          <a:xfrm>
            <a:off x="16229330" y="464820"/>
            <a:ext cx="1663700" cy="406399"/>
          </a:xfrm>
          <a:prstGeom prst="rect">
            <a:avLst/>
          </a:prstGeom>
          <a:noFill/>
        </p:spPr>
        <p:txBody>
          <a:bodyPr wrap="none" lIns="0" tIns="0" rIns="0" bIns="0" anchor="ctr">
            <a:spAutoFit/>
          </a:bodyPr>
          <a:lstStyle/>
          <a:p>
            <a:r>
              <a:rPr sz="3200" b="1" spc="117">
                <a:solidFill>
                  <a:srgbClr val="303642"/>
                </a:solidFill>
                <a:latin typeface="Noto Serif"/>
              </a:rPr>
              <a:t>OSCode</a:t>
            </a:r>
          </a:p>
        </p:txBody>
      </p:sp>
      <p:sp>
        <p:nvSpPr>
          <p:cNvPr id="8" name="TextBox 7"/>
          <p:cNvSpPr txBox="1"/>
          <p:nvPr/>
        </p:nvSpPr>
        <p:spPr>
          <a:xfrm>
            <a:off x="16479519" y="795020"/>
            <a:ext cx="1418590" cy="177799"/>
          </a:xfrm>
          <a:prstGeom prst="rect">
            <a:avLst/>
          </a:prstGeom>
          <a:noFill/>
        </p:spPr>
        <p:txBody>
          <a:bodyPr wrap="none" lIns="0" tIns="0" rIns="0" bIns="0" anchor="ctr">
            <a:spAutoFit/>
          </a:bodyPr>
          <a:lstStyle/>
          <a:p>
            <a:r>
              <a:rPr sz="1400" spc="40">
                <a:solidFill>
                  <a:srgbClr val="303642"/>
                </a:solidFill>
                <a:latin typeface="Noto Serif"/>
              </a:rPr>
              <a:t>by community</a:t>
            </a:r>
            <a:r>
              <a:rPr sz="1400" b="1" spc="-25">
                <a:solidFill>
                  <a:srgbClr val="00AEEF"/>
                </a:solidFill>
                <a:latin typeface="Noto Serif"/>
              </a:rPr>
              <a:t>X</a:t>
            </a:r>
          </a:p>
        </p:txBody>
      </p:sp>
      <p:sp>
        <p:nvSpPr>
          <p:cNvPr id="9" name="TextBox 8"/>
          <p:cNvSpPr txBox="1"/>
          <p:nvPr/>
        </p:nvSpPr>
        <p:spPr>
          <a:xfrm>
            <a:off x="1028700" y="1117600"/>
            <a:ext cx="4992370" cy="609600"/>
          </a:xfrm>
          <a:prstGeom prst="rect">
            <a:avLst/>
          </a:prstGeom>
          <a:noFill/>
        </p:spPr>
        <p:txBody>
          <a:bodyPr wrap="none" lIns="0" tIns="0" rIns="0" bIns="0" anchor="ctr">
            <a:spAutoFit/>
          </a:bodyPr>
          <a:lstStyle/>
          <a:p>
            <a:r>
              <a:rPr sz="4800" b="1" spc="-103">
                <a:solidFill>
                  <a:srgbClr val="000000"/>
                </a:solidFill>
                <a:latin typeface="Noto Serif"/>
              </a:rPr>
              <a:t>TEAM MEMBERS</a:t>
            </a:r>
          </a:p>
        </p:txBody>
      </p:sp>
      <p:sp>
        <p:nvSpPr>
          <p:cNvPr id="10" name="TextBox 9"/>
          <p:cNvSpPr txBox="1"/>
          <p:nvPr/>
        </p:nvSpPr>
        <p:spPr>
          <a:xfrm>
            <a:off x="1546860" y="2533134"/>
            <a:ext cx="1147750" cy="369332"/>
          </a:xfrm>
          <a:prstGeom prst="rect">
            <a:avLst/>
          </a:prstGeom>
          <a:noFill/>
        </p:spPr>
        <p:txBody>
          <a:bodyPr wrap="square" lIns="0" tIns="0" rIns="0" bIns="0" anchor="ctr">
            <a:spAutoFit/>
          </a:bodyPr>
          <a:lstStyle/>
          <a:p>
            <a:r>
              <a:rPr lang="en-US" sz="2400" spc="-75">
                <a:solidFill>
                  <a:srgbClr val="000000"/>
                </a:solidFill>
                <a:latin typeface="Noto Serif"/>
              </a:rPr>
              <a:t>Navya R</a:t>
            </a:r>
            <a:endParaRPr sz="2400" spc="-75">
              <a:solidFill>
                <a:srgbClr val="000000"/>
              </a:solidFill>
              <a:latin typeface="Noto Serif"/>
            </a:endParaRPr>
          </a:p>
        </p:txBody>
      </p:sp>
      <p:sp>
        <p:nvSpPr>
          <p:cNvPr id="11" name="TextBox 10"/>
          <p:cNvSpPr txBox="1"/>
          <p:nvPr/>
        </p:nvSpPr>
        <p:spPr>
          <a:xfrm>
            <a:off x="1546860" y="2952234"/>
            <a:ext cx="1823513" cy="369332"/>
          </a:xfrm>
          <a:prstGeom prst="rect">
            <a:avLst/>
          </a:prstGeom>
          <a:noFill/>
        </p:spPr>
        <p:txBody>
          <a:bodyPr wrap="none" lIns="0" tIns="0" rIns="0" bIns="0" anchor="ctr">
            <a:spAutoFit/>
          </a:bodyPr>
          <a:lstStyle/>
          <a:p>
            <a:r>
              <a:rPr lang="en-US" sz="2400" spc="-38">
                <a:solidFill>
                  <a:srgbClr val="000000"/>
                </a:solidFill>
                <a:latin typeface="Noto Serif"/>
              </a:rPr>
              <a:t>Nivedya M A</a:t>
            </a:r>
            <a:endParaRPr sz="2400" spc="-38">
              <a:solidFill>
                <a:srgbClr val="000000"/>
              </a:solidFill>
              <a:latin typeface="Noto Serif"/>
            </a:endParaRPr>
          </a:p>
        </p:txBody>
      </p:sp>
      <p:sp>
        <p:nvSpPr>
          <p:cNvPr id="12" name="TextBox 11"/>
          <p:cNvSpPr txBox="1"/>
          <p:nvPr/>
        </p:nvSpPr>
        <p:spPr>
          <a:xfrm>
            <a:off x="1546860" y="3371334"/>
            <a:ext cx="1850507" cy="369332"/>
          </a:xfrm>
          <a:prstGeom prst="rect">
            <a:avLst/>
          </a:prstGeom>
          <a:noFill/>
        </p:spPr>
        <p:txBody>
          <a:bodyPr wrap="none" lIns="0" tIns="0" rIns="0" bIns="0" anchor="ctr">
            <a:spAutoFit/>
          </a:bodyPr>
          <a:lstStyle/>
          <a:p>
            <a:r>
              <a:rPr lang="en-US" sz="2400" spc="-35">
                <a:solidFill>
                  <a:srgbClr val="000000"/>
                </a:solidFill>
                <a:latin typeface="Noto Serif"/>
              </a:rPr>
              <a:t>Roshni Shaik</a:t>
            </a:r>
            <a:endParaRPr sz="2400" spc="-35">
              <a:solidFill>
                <a:srgbClr val="000000"/>
              </a:solidFill>
              <a:latin typeface="Noto Serif"/>
            </a:endParaRPr>
          </a:p>
        </p:txBody>
      </p:sp>
      <p:sp>
        <p:nvSpPr>
          <p:cNvPr id="13" name="TextBox 12"/>
          <p:cNvSpPr txBox="1"/>
          <p:nvPr/>
        </p:nvSpPr>
        <p:spPr>
          <a:xfrm>
            <a:off x="1546860" y="3790434"/>
            <a:ext cx="1794081" cy="369332"/>
          </a:xfrm>
          <a:prstGeom prst="rect">
            <a:avLst/>
          </a:prstGeom>
          <a:noFill/>
        </p:spPr>
        <p:txBody>
          <a:bodyPr wrap="none" lIns="0" tIns="0" rIns="0" bIns="0" anchor="ctr">
            <a:spAutoFit/>
          </a:bodyPr>
          <a:lstStyle/>
          <a:p>
            <a:r>
              <a:rPr lang="en-US" sz="2400" spc="-30">
                <a:solidFill>
                  <a:srgbClr val="000000"/>
                </a:solidFill>
                <a:latin typeface="Noto Serif"/>
              </a:rPr>
              <a:t>Sharvani S P</a:t>
            </a:r>
            <a:endParaRPr sz="2400" spc="-30">
              <a:solidFill>
                <a:srgbClr val="000000"/>
              </a:solidFill>
              <a:latin typeface="Noto Serif"/>
            </a:endParaRPr>
          </a:p>
        </p:txBody>
      </p:sp>
      <p:pic>
        <p:nvPicPr>
          <p:cNvPr id="15" name="Picture 14" descr="image.png"/>
          <p:cNvPicPr>
            <a:picLocks noChangeAspect="1"/>
          </p:cNvPicPr>
          <p:nvPr/>
        </p:nvPicPr>
        <p:blipFill>
          <a:blip r:embed="rId7"/>
          <a:stretch>
            <a:fillRect/>
          </a:stretch>
        </p:blipFill>
        <p:spPr>
          <a:xfrm>
            <a:off x="1282700" y="2660650"/>
            <a:ext cx="101600" cy="101600"/>
          </a:xfrm>
          <a:prstGeom prst="rect">
            <a:avLst/>
          </a:prstGeom>
        </p:spPr>
      </p:pic>
      <p:pic>
        <p:nvPicPr>
          <p:cNvPr id="16" name="Picture 15" descr="image.png"/>
          <p:cNvPicPr>
            <a:picLocks noChangeAspect="1"/>
          </p:cNvPicPr>
          <p:nvPr/>
        </p:nvPicPr>
        <p:blipFill>
          <a:blip r:embed="rId7"/>
          <a:stretch>
            <a:fillRect/>
          </a:stretch>
        </p:blipFill>
        <p:spPr>
          <a:xfrm>
            <a:off x="1282700" y="3079750"/>
            <a:ext cx="101600" cy="101600"/>
          </a:xfrm>
          <a:prstGeom prst="rect">
            <a:avLst/>
          </a:prstGeom>
        </p:spPr>
      </p:pic>
      <p:pic>
        <p:nvPicPr>
          <p:cNvPr id="17" name="Picture 16" descr="image.png"/>
          <p:cNvPicPr>
            <a:picLocks noChangeAspect="1"/>
          </p:cNvPicPr>
          <p:nvPr/>
        </p:nvPicPr>
        <p:blipFill>
          <a:blip r:embed="rId7"/>
          <a:stretch>
            <a:fillRect/>
          </a:stretch>
        </p:blipFill>
        <p:spPr>
          <a:xfrm>
            <a:off x="1282700" y="3498850"/>
            <a:ext cx="101600" cy="101600"/>
          </a:xfrm>
          <a:prstGeom prst="rect">
            <a:avLst/>
          </a:prstGeom>
        </p:spPr>
      </p:pic>
      <p:pic>
        <p:nvPicPr>
          <p:cNvPr id="18" name="Picture 17" descr="image.png"/>
          <p:cNvPicPr>
            <a:picLocks noChangeAspect="1"/>
          </p:cNvPicPr>
          <p:nvPr/>
        </p:nvPicPr>
        <p:blipFill>
          <a:blip r:embed="rId7"/>
          <a:stretch>
            <a:fillRect/>
          </a:stretch>
        </p:blipFill>
        <p:spPr>
          <a:xfrm>
            <a:off x="1282700" y="3917950"/>
            <a:ext cx="101600" cy="1016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2"/>
          <a:stretch>
            <a:fillRect/>
          </a:stretch>
        </p:blipFill>
        <p:spPr>
          <a:xfrm>
            <a:off x="10331450" y="1789204"/>
            <a:ext cx="7956550" cy="8534400"/>
          </a:xfrm>
          <a:prstGeom prst="rect">
            <a:avLst/>
          </a:prstGeom>
        </p:spPr>
      </p:pic>
      <p:pic>
        <p:nvPicPr>
          <p:cNvPr id="4" name="Picture 3" descr="image.png"/>
          <p:cNvPicPr>
            <a:picLocks noChangeAspect="1"/>
          </p:cNvPicPr>
          <p:nvPr/>
        </p:nvPicPr>
        <p:blipFill>
          <a:blip r:embed="rId3"/>
          <a:stretch>
            <a:fillRect/>
          </a:stretch>
        </p:blipFill>
        <p:spPr>
          <a:xfrm>
            <a:off x="0" y="10134375"/>
            <a:ext cx="18288000" cy="189229"/>
          </a:xfrm>
          <a:prstGeom prst="rect">
            <a:avLst/>
          </a:prstGeom>
        </p:spPr>
      </p:pic>
      <p:pic>
        <p:nvPicPr>
          <p:cNvPr id="5" name="Picture 4" descr="image.png"/>
          <p:cNvPicPr>
            <a:picLocks noChangeAspect="1"/>
          </p:cNvPicPr>
          <p:nvPr/>
        </p:nvPicPr>
        <p:blipFill>
          <a:blip r:embed="rId4"/>
          <a:stretch>
            <a:fillRect/>
          </a:stretch>
        </p:blipFill>
        <p:spPr>
          <a:xfrm>
            <a:off x="9144000" y="10119894"/>
            <a:ext cx="9144000" cy="189229"/>
          </a:xfrm>
          <a:prstGeom prst="rect">
            <a:avLst/>
          </a:prstGeom>
        </p:spPr>
      </p:pic>
      <p:pic>
        <p:nvPicPr>
          <p:cNvPr id="6" name="Picture 5" descr="image.png"/>
          <p:cNvPicPr>
            <a:picLocks noChangeAspect="1"/>
          </p:cNvPicPr>
          <p:nvPr/>
        </p:nvPicPr>
        <p:blipFill>
          <a:blip r:embed="rId5"/>
          <a:stretch>
            <a:fillRect/>
          </a:stretch>
        </p:blipFill>
        <p:spPr>
          <a:xfrm>
            <a:off x="15500350" y="323850"/>
            <a:ext cx="615950" cy="615950"/>
          </a:xfrm>
          <a:prstGeom prst="rect">
            <a:avLst/>
          </a:prstGeom>
        </p:spPr>
      </p:pic>
      <p:sp>
        <p:nvSpPr>
          <p:cNvPr id="7" name="TextBox 6"/>
          <p:cNvSpPr txBox="1"/>
          <p:nvPr/>
        </p:nvSpPr>
        <p:spPr>
          <a:xfrm>
            <a:off x="16229330" y="464820"/>
            <a:ext cx="1663700" cy="406399"/>
          </a:xfrm>
          <a:prstGeom prst="rect">
            <a:avLst/>
          </a:prstGeom>
          <a:noFill/>
        </p:spPr>
        <p:txBody>
          <a:bodyPr wrap="none" lIns="0" tIns="0" rIns="0" bIns="0" anchor="ctr">
            <a:spAutoFit/>
          </a:bodyPr>
          <a:lstStyle/>
          <a:p>
            <a:r>
              <a:rPr sz="3200" b="1" spc="117">
                <a:solidFill>
                  <a:srgbClr val="303642"/>
                </a:solidFill>
                <a:latin typeface="Noto Serif"/>
              </a:rPr>
              <a:t>OSCode</a:t>
            </a:r>
          </a:p>
        </p:txBody>
      </p:sp>
      <p:sp>
        <p:nvSpPr>
          <p:cNvPr id="8" name="TextBox 7"/>
          <p:cNvSpPr txBox="1"/>
          <p:nvPr/>
        </p:nvSpPr>
        <p:spPr>
          <a:xfrm>
            <a:off x="16479519" y="795020"/>
            <a:ext cx="1418590" cy="177799"/>
          </a:xfrm>
          <a:prstGeom prst="rect">
            <a:avLst/>
          </a:prstGeom>
          <a:noFill/>
        </p:spPr>
        <p:txBody>
          <a:bodyPr wrap="none" lIns="0" tIns="0" rIns="0" bIns="0" anchor="ctr">
            <a:spAutoFit/>
          </a:bodyPr>
          <a:lstStyle/>
          <a:p>
            <a:r>
              <a:rPr sz="1400" spc="40">
                <a:solidFill>
                  <a:srgbClr val="303642"/>
                </a:solidFill>
                <a:latin typeface="Noto Serif"/>
              </a:rPr>
              <a:t>by community</a:t>
            </a:r>
            <a:r>
              <a:rPr sz="1400" b="1" spc="-25">
                <a:solidFill>
                  <a:srgbClr val="00AEEF"/>
                </a:solidFill>
                <a:latin typeface="Noto Serif"/>
              </a:rPr>
              <a:t>X</a:t>
            </a:r>
          </a:p>
        </p:txBody>
      </p:sp>
      <p:sp>
        <p:nvSpPr>
          <p:cNvPr id="9" name="TextBox 8"/>
          <p:cNvSpPr txBox="1"/>
          <p:nvPr/>
        </p:nvSpPr>
        <p:spPr>
          <a:xfrm>
            <a:off x="1028700" y="1053068"/>
            <a:ext cx="7079951" cy="738664"/>
          </a:xfrm>
          <a:prstGeom prst="rect">
            <a:avLst/>
          </a:prstGeom>
          <a:noFill/>
        </p:spPr>
        <p:txBody>
          <a:bodyPr wrap="none" lIns="0" tIns="0" rIns="0" bIns="0" anchor="ctr">
            <a:spAutoFit/>
          </a:bodyPr>
          <a:lstStyle/>
          <a:p>
            <a:r>
              <a:rPr sz="4800" b="1" spc="-153" dirty="0">
                <a:solidFill>
                  <a:srgbClr val="000000"/>
                </a:solidFill>
                <a:latin typeface="Noto Serif"/>
              </a:rPr>
              <a:t>PROBLEM STATEMENT</a:t>
            </a:r>
          </a:p>
        </p:txBody>
      </p:sp>
      <p:sp>
        <p:nvSpPr>
          <p:cNvPr id="13" name="TextBox 12">
            <a:extLst>
              <a:ext uri="{FF2B5EF4-FFF2-40B4-BE49-F238E27FC236}">
                <a16:creationId xmlns:a16="http://schemas.microsoft.com/office/drawing/2014/main" id="{1173D0B6-42C6-DC93-5CFE-B206B358F0D1}"/>
              </a:ext>
            </a:extLst>
          </p:cNvPr>
          <p:cNvSpPr txBox="1"/>
          <p:nvPr/>
        </p:nvSpPr>
        <p:spPr>
          <a:xfrm>
            <a:off x="1028700" y="2185281"/>
            <a:ext cx="10534035" cy="3877985"/>
          </a:xfrm>
          <a:prstGeom prst="rect">
            <a:avLst/>
          </a:prstGeom>
          <a:noFill/>
        </p:spPr>
        <p:txBody>
          <a:bodyPr wrap="square" rtlCol="0">
            <a:spAutoFit/>
          </a:bodyPr>
          <a:lstStyle/>
          <a:p>
            <a:r>
              <a:rPr lang="en-IN" sz="3200" b="1" dirty="0"/>
              <a:t>Problem Title</a:t>
            </a:r>
          </a:p>
          <a:p>
            <a:r>
              <a:rPr lang="en-IN" sz="2400" dirty="0"/>
              <a:t>Intelligent UPI Fraud Prevention using AI-driven real-time transaction monitoring</a:t>
            </a:r>
          </a:p>
          <a:p>
            <a:endParaRPr lang="en-IN" sz="2800" dirty="0"/>
          </a:p>
          <a:p>
            <a:r>
              <a:rPr lang="en-IN" sz="3200" b="1" dirty="0"/>
              <a:t>Proposed Project Name</a:t>
            </a:r>
          </a:p>
          <a:p>
            <a:r>
              <a:rPr lang="en-IN" sz="2400" i="1" dirty="0"/>
              <a:t>SentinelShield AI</a:t>
            </a:r>
          </a:p>
          <a:p>
            <a:endParaRPr lang="en-IN" sz="2800" dirty="0"/>
          </a:p>
          <a:p>
            <a:r>
              <a:rPr lang="en-IN" sz="2800" b="1" dirty="0"/>
              <a:t>Tagline</a:t>
            </a:r>
          </a:p>
          <a:p>
            <a:r>
              <a:rPr lang="en-IN" sz="2400" dirty="0"/>
              <a:t>“Detect the Threat Before You Trust the Transaction.”</a:t>
            </a:r>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8288000" cy="10287000"/>
          </a:xfrm>
          <a:prstGeom prst="rect">
            <a:avLst/>
          </a:prstGeom>
        </p:spPr>
      </p:pic>
      <p:pic>
        <p:nvPicPr>
          <p:cNvPr id="3" name="Picture 2" descr="image.png"/>
          <p:cNvPicPr>
            <a:picLocks noChangeAspect="1"/>
          </p:cNvPicPr>
          <p:nvPr/>
        </p:nvPicPr>
        <p:blipFill>
          <a:blip r:embed="rId3"/>
          <a:stretch>
            <a:fillRect/>
          </a:stretch>
        </p:blipFill>
        <p:spPr>
          <a:xfrm>
            <a:off x="10331450" y="1752600"/>
            <a:ext cx="7956550" cy="8534400"/>
          </a:xfrm>
          <a:prstGeom prst="rect">
            <a:avLst/>
          </a:prstGeom>
        </p:spPr>
      </p:pic>
      <p:pic>
        <p:nvPicPr>
          <p:cNvPr id="4" name="Picture 3" descr="image.png"/>
          <p:cNvPicPr>
            <a:picLocks noChangeAspect="1"/>
          </p:cNvPicPr>
          <p:nvPr/>
        </p:nvPicPr>
        <p:blipFill>
          <a:blip r:embed="rId4"/>
          <a:stretch>
            <a:fillRect/>
          </a:stretch>
        </p:blipFill>
        <p:spPr>
          <a:xfrm>
            <a:off x="0" y="10097770"/>
            <a:ext cx="18288000" cy="189229"/>
          </a:xfrm>
          <a:prstGeom prst="rect">
            <a:avLst/>
          </a:prstGeom>
        </p:spPr>
      </p:pic>
      <p:pic>
        <p:nvPicPr>
          <p:cNvPr id="5" name="Picture 4" descr="image.png"/>
          <p:cNvPicPr>
            <a:picLocks noChangeAspect="1"/>
          </p:cNvPicPr>
          <p:nvPr/>
        </p:nvPicPr>
        <p:blipFill>
          <a:blip r:embed="rId5"/>
          <a:stretch>
            <a:fillRect/>
          </a:stretch>
        </p:blipFill>
        <p:spPr>
          <a:xfrm>
            <a:off x="9144000" y="10097770"/>
            <a:ext cx="9144000" cy="189229"/>
          </a:xfrm>
          <a:prstGeom prst="rect">
            <a:avLst/>
          </a:prstGeom>
        </p:spPr>
      </p:pic>
      <p:pic>
        <p:nvPicPr>
          <p:cNvPr id="6" name="Picture 5" descr="image.png"/>
          <p:cNvPicPr>
            <a:picLocks noChangeAspect="1"/>
          </p:cNvPicPr>
          <p:nvPr/>
        </p:nvPicPr>
        <p:blipFill>
          <a:blip r:embed="rId6"/>
          <a:stretch>
            <a:fillRect/>
          </a:stretch>
        </p:blipFill>
        <p:spPr>
          <a:xfrm>
            <a:off x="15500350" y="323850"/>
            <a:ext cx="615950" cy="615950"/>
          </a:xfrm>
          <a:prstGeom prst="rect">
            <a:avLst/>
          </a:prstGeom>
        </p:spPr>
      </p:pic>
      <p:sp>
        <p:nvSpPr>
          <p:cNvPr id="7" name="TextBox 6"/>
          <p:cNvSpPr txBox="1"/>
          <p:nvPr/>
        </p:nvSpPr>
        <p:spPr>
          <a:xfrm>
            <a:off x="16229330" y="464820"/>
            <a:ext cx="1663700" cy="406399"/>
          </a:xfrm>
          <a:prstGeom prst="rect">
            <a:avLst/>
          </a:prstGeom>
          <a:noFill/>
        </p:spPr>
        <p:txBody>
          <a:bodyPr wrap="none" lIns="0" tIns="0" rIns="0" bIns="0" anchor="ctr">
            <a:spAutoFit/>
          </a:bodyPr>
          <a:lstStyle/>
          <a:p>
            <a:r>
              <a:rPr sz="3200" b="1" spc="117">
                <a:solidFill>
                  <a:srgbClr val="303642"/>
                </a:solidFill>
                <a:latin typeface="Noto Serif"/>
              </a:rPr>
              <a:t>OSCode</a:t>
            </a:r>
          </a:p>
        </p:txBody>
      </p:sp>
      <p:sp>
        <p:nvSpPr>
          <p:cNvPr id="8" name="TextBox 7"/>
          <p:cNvSpPr txBox="1"/>
          <p:nvPr/>
        </p:nvSpPr>
        <p:spPr>
          <a:xfrm>
            <a:off x="16479519" y="795020"/>
            <a:ext cx="1418590" cy="177799"/>
          </a:xfrm>
          <a:prstGeom prst="rect">
            <a:avLst/>
          </a:prstGeom>
          <a:noFill/>
        </p:spPr>
        <p:txBody>
          <a:bodyPr wrap="none" lIns="0" tIns="0" rIns="0" bIns="0" anchor="ctr">
            <a:spAutoFit/>
          </a:bodyPr>
          <a:lstStyle/>
          <a:p>
            <a:r>
              <a:rPr sz="1400" spc="40">
                <a:solidFill>
                  <a:srgbClr val="303642"/>
                </a:solidFill>
                <a:latin typeface="Noto Serif"/>
              </a:rPr>
              <a:t>by community</a:t>
            </a:r>
            <a:r>
              <a:rPr sz="1400" b="1" spc="-25">
                <a:solidFill>
                  <a:srgbClr val="00AEEF"/>
                </a:solidFill>
                <a:latin typeface="Noto Serif"/>
              </a:rPr>
              <a:t>X</a:t>
            </a:r>
          </a:p>
        </p:txBody>
      </p:sp>
      <p:sp>
        <p:nvSpPr>
          <p:cNvPr id="14" name="TextBox 13">
            <a:extLst>
              <a:ext uri="{FF2B5EF4-FFF2-40B4-BE49-F238E27FC236}">
                <a16:creationId xmlns:a16="http://schemas.microsoft.com/office/drawing/2014/main" id="{E0B27A03-80EB-943E-574B-017D5884AD8C}"/>
              </a:ext>
            </a:extLst>
          </p:cNvPr>
          <p:cNvSpPr txBox="1"/>
          <p:nvPr/>
        </p:nvSpPr>
        <p:spPr>
          <a:xfrm>
            <a:off x="1088572" y="1251857"/>
            <a:ext cx="10940142" cy="5509200"/>
          </a:xfrm>
          <a:prstGeom prst="rect">
            <a:avLst/>
          </a:prstGeom>
          <a:noFill/>
        </p:spPr>
        <p:txBody>
          <a:bodyPr wrap="square" rtlCol="0">
            <a:spAutoFit/>
          </a:bodyPr>
          <a:lstStyle/>
          <a:p>
            <a:r>
              <a:rPr lang="en-IN" sz="3200" b="1" dirty="0"/>
              <a:t>What does this Problem Aim to Solve?</a:t>
            </a:r>
          </a:p>
          <a:p>
            <a:r>
              <a:rPr lang="en-IN" sz="2400" dirty="0"/>
              <a:t>
This problem aims to prevent UPI fraud by detecting suspicious transactions in real time before financial loss occurs. It uses AI/ML to analyze transaction patterns, user behavior, and risk signals, generate a real-time risk score, and trigger timely alerts or preventive actions against potentially fraudulent transactions.</a:t>
            </a:r>
          </a:p>
          <a:p>
            <a:endParaRPr lang="en-IN" sz="2400" dirty="0"/>
          </a:p>
          <a:p>
            <a:r>
              <a:rPr lang="en-IN" sz="2400" dirty="0"/>
              <a:t>
</a:t>
            </a:r>
            <a:r>
              <a:rPr lang="en-IN" sz="3200" b="1" dirty="0"/>
              <a:t>Why Did Our Team Choose This Problem?</a:t>
            </a:r>
          </a:p>
          <a:p>
            <a:r>
              <a:rPr lang="en-IN" sz="2400" dirty="0"/>
              <a:t>
Our team chose this problem because UPI is widely used for everyday payments, making payment security a critical real-world challenge. We wanted to apply our knowledge of AI, ML, and cybersecurity to build a proactive solution that can detect evolving fraud patterns and make digital payments safer and more trustworthy.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8288000" cy="10287000"/>
          </a:xfrm>
          <a:prstGeom prst="rect">
            <a:avLst/>
          </a:prstGeom>
        </p:spPr>
      </p:pic>
      <p:pic>
        <p:nvPicPr>
          <p:cNvPr id="3" name="Picture 2" descr="image.png"/>
          <p:cNvPicPr>
            <a:picLocks noChangeAspect="1"/>
          </p:cNvPicPr>
          <p:nvPr/>
        </p:nvPicPr>
        <p:blipFill>
          <a:blip r:embed="rId3"/>
          <a:stretch>
            <a:fillRect/>
          </a:stretch>
        </p:blipFill>
        <p:spPr>
          <a:xfrm>
            <a:off x="10331450" y="1752600"/>
            <a:ext cx="7956550" cy="8534400"/>
          </a:xfrm>
          <a:prstGeom prst="rect">
            <a:avLst/>
          </a:prstGeom>
        </p:spPr>
      </p:pic>
      <p:pic>
        <p:nvPicPr>
          <p:cNvPr id="4" name="Picture 3" descr="image.png"/>
          <p:cNvPicPr>
            <a:picLocks noChangeAspect="1"/>
          </p:cNvPicPr>
          <p:nvPr/>
        </p:nvPicPr>
        <p:blipFill>
          <a:blip r:embed="rId4"/>
          <a:stretch>
            <a:fillRect/>
          </a:stretch>
        </p:blipFill>
        <p:spPr>
          <a:xfrm>
            <a:off x="0" y="10097770"/>
            <a:ext cx="18288000" cy="189229"/>
          </a:xfrm>
          <a:prstGeom prst="rect">
            <a:avLst/>
          </a:prstGeom>
        </p:spPr>
      </p:pic>
      <p:pic>
        <p:nvPicPr>
          <p:cNvPr id="5" name="Picture 4" descr="image.png"/>
          <p:cNvPicPr>
            <a:picLocks noChangeAspect="1"/>
          </p:cNvPicPr>
          <p:nvPr/>
        </p:nvPicPr>
        <p:blipFill>
          <a:blip r:embed="rId5"/>
          <a:stretch>
            <a:fillRect/>
          </a:stretch>
        </p:blipFill>
        <p:spPr>
          <a:xfrm>
            <a:off x="9144000" y="10097770"/>
            <a:ext cx="9144000" cy="189229"/>
          </a:xfrm>
          <a:prstGeom prst="rect">
            <a:avLst/>
          </a:prstGeom>
        </p:spPr>
      </p:pic>
      <p:pic>
        <p:nvPicPr>
          <p:cNvPr id="6" name="Picture 5" descr="image.png"/>
          <p:cNvPicPr>
            <a:picLocks noChangeAspect="1"/>
          </p:cNvPicPr>
          <p:nvPr/>
        </p:nvPicPr>
        <p:blipFill>
          <a:blip r:embed="rId6"/>
          <a:stretch>
            <a:fillRect/>
          </a:stretch>
        </p:blipFill>
        <p:spPr>
          <a:xfrm>
            <a:off x="15500350" y="323850"/>
            <a:ext cx="615950" cy="615950"/>
          </a:xfrm>
          <a:prstGeom prst="rect">
            <a:avLst/>
          </a:prstGeom>
        </p:spPr>
      </p:pic>
      <p:sp>
        <p:nvSpPr>
          <p:cNvPr id="7" name="TextBox 6"/>
          <p:cNvSpPr txBox="1"/>
          <p:nvPr/>
        </p:nvSpPr>
        <p:spPr>
          <a:xfrm>
            <a:off x="16229330" y="464820"/>
            <a:ext cx="1663700" cy="406399"/>
          </a:xfrm>
          <a:prstGeom prst="rect">
            <a:avLst/>
          </a:prstGeom>
          <a:noFill/>
        </p:spPr>
        <p:txBody>
          <a:bodyPr wrap="none" lIns="0" tIns="0" rIns="0" bIns="0" anchor="ctr">
            <a:spAutoFit/>
          </a:bodyPr>
          <a:lstStyle/>
          <a:p>
            <a:r>
              <a:rPr sz="3200" b="1" spc="117">
                <a:solidFill>
                  <a:srgbClr val="303642"/>
                </a:solidFill>
                <a:latin typeface="Noto Serif"/>
              </a:rPr>
              <a:t>OSCode</a:t>
            </a:r>
          </a:p>
        </p:txBody>
      </p:sp>
      <p:sp>
        <p:nvSpPr>
          <p:cNvPr id="8" name="TextBox 7"/>
          <p:cNvSpPr txBox="1"/>
          <p:nvPr/>
        </p:nvSpPr>
        <p:spPr>
          <a:xfrm>
            <a:off x="16479519" y="795020"/>
            <a:ext cx="1418590" cy="177799"/>
          </a:xfrm>
          <a:prstGeom prst="rect">
            <a:avLst/>
          </a:prstGeom>
          <a:noFill/>
        </p:spPr>
        <p:txBody>
          <a:bodyPr wrap="none" lIns="0" tIns="0" rIns="0" bIns="0" anchor="ctr">
            <a:spAutoFit/>
          </a:bodyPr>
          <a:lstStyle/>
          <a:p>
            <a:r>
              <a:rPr sz="1400" spc="40">
                <a:solidFill>
                  <a:srgbClr val="303642"/>
                </a:solidFill>
                <a:latin typeface="Noto Serif"/>
              </a:rPr>
              <a:t>by community</a:t>
            </a:r>
            <a:r>
              <a:rPr sz="1400" b="1" spc="-25">
                <a:solidFill>
                  <a:srgbClr val="00AEEF"/>
                </a:solidFill>
                <a:latin typeface="Noto Serif"/>
              </a:rPr>
              <a:t>X</a:t>
            </a:r>
          </a:p>
        </p:txBody>
      </p:sp>
      <p:sp>
        <p:nvSpPr>
          <p:cNvPr id="14" name="TextBox 13">
            <a:extLst>
              <a:ext uri="{FF2B5EF4-FFF2-40B4-BE49-F238E27FC236}">
                <a16:creationId xmlns:a16="http://schemas.microsoft.com/office/drawing/2014/main" id="{A94C1EC5-D16D-F227-44FE-31FCEBFA6125}"/>
              </a:ext>
            </a:extLst>
          </p:cNvPr>
          <p:cNvSpPr txBox="1"/>
          <p:nvPr/>
        </p:nvSpPr>
        <p:spPr>
          <a:xfrm>
            <a:off x="925286" y="1147762"/>
            <a:ext cx="10804247" cy="7386638"/>
          </a:xfrm>
          <a:prstGeom prst="rect">
            <a:avLst/>
          </a:prstGeom>
          <a:noFill/>
        </p:spPr>
        <p:txBody>
          <a:bodyPr wrap="square" rtlCol="0">
            <a:spAutoFit/>
          </a:bodyPr>
          <a:lstStyle/>
          <a:p>
            <a:r>
              <a:rPr lang="en-IN" sz="4800" b="1" dirty="0"/>
              <a:t>REAL-WORLD PROBLEM ALIGNMENT</a:t>
            </a:r>
          </a:p>
          <a:p>
            <a:endParaRPr lang="en-IN" sz="3200" b="1" dirty="0"/>
          </a:p>
          <a:p>
            <a:r>
              <a:rPr lang="en-IN" sz="3200" b="1" dirty="0"/>
              <a:t>Who Faces This Issue? </a:t>
            </a:r>
          </a:p>
          <a:p>
            <a:pPr marL="342900" indent="-342900">
              <a:buFont typeface="Arial" panose="020B0604020202020204" pitchFamily="34" charset="0"/>
              <a:buChar char="•"/>
            </a:pPr>
            <a:r>
              <a:rPr lang="en-IN" sz="2400" dirty="0"/>
              <a:t>UPI users
Students and young digital-payment users
Senior citizens
Small businesses and local merchants
Banks and payment service providers
Users vulnerable to evolving digital fraud</a:t>
            </a:r>
          </a:p>
          <a:p>
            <a:r>
              <a:rPr lang="en-IN" sz="2400" dirty="0"/>
              <a:t>
</a:t>
            </a:r>
            <a:r>
              <a:rPr lang="en-IN" sz="3200" b="1" dirty="0"/>
              <a:t>What Is the Current Gap in the System?</a:t>
            </a:r>
            <a:endParaRPr lang="en-IN" sz="2400" b="1" dirty="0"/>
          </a:p>
          <a:p>
            <a:pPr marL="342900" indent="-342900">
              <a:buFont typeface="Arial" panose="020B0604020202020204" pitchFamily="34" charset="0"/>
              <a:buChar char="•"/>
            </a:pPr>
            <a:r>
              <a:rPr lang="en-IN" sz="2400" dirty="0"/>
              <a:t>Real-time detection of emerging fraud patterns
Continuous analysis of user and transaction behavior
Dynamic risk assessment for every transaction
Early identification of anomalous activities
Reduction of false fraud alerts
Faster preventive action before financial loss</a:t>
            </a:r>
          </a:p>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44245" y="0"/>
            <a:ext cx="18288000" cy="10287000"/>
          </a:xfrm>
          <a:prstGeom prst="rect">
            <a:avLst/>
          </a:prstGeom>
        </p:spPr>
      </p:pic>
      <p:pic>
        <p:nvPicPr>
          <p:cNvPr id="3" name="Picture 2" descr="image.png"/>
          <p:cNvPicPr>
            <a:picLocks noChangeAspect="1"/>
          </p:cNvPicPr>
          <p:nvPr/>
        </p:nvPicPr>
        <p:blipFill>
          <a:blip r:embed="rId3"/>
          <a:stretch>
            <a:fillRect/>
          </a:stretch>
        </p:blipFill>
        <p:spPr>
          <a:xfrm>
            <a:off x="10331450" y="1752600"/>
            <a:ext cx="7956550" cy="8534400"/>
          </a:xfrm>
          <a:prstGeom prst="rect">
            <a:avLst/>
          </a:prstGeom>
        </p:spPr>
      </p:pic>
      <p:pic>
        <p:nvPicPr>
          <p:cNvPr id="4" name="Picture 3" descr="image.png"/>
          <p:cNvPicPr>
            <a:picLocks noChangeAspect="1"/>
          </p:cNvPicPr>
          <p:nvPr/>
        </p:nvPicPr>
        <p:blipFill>
          <a:blip r:embed="rId4"/>
          <a:stretch>
            <a:fillRect/>
          </a:stretch>
        </p:blipFill>
        <p:spPr>
          <a:xfrm>
            <a:off x="0" y="10097770"/>
            <a:ext cx="18288000" cy="189229"/>
          </a:xfrm>
          <a:prstGeom prst="rect">
            <a:avLst/>
          </a:prstGeom>
        </p:spPr>
      </p:pic>
      <p:pic>
        <p:nvPicPr>
          <p:cNvPr id="5" name="Picture 4" descr="image.png"/>
          <p:cNvPicPr>
            <a:picLocks noChangeAspect="1"/>
          </p:cNvPicPr>
          <p:nvPr/>
        </p:nvPicPr>
        <p:blipFill>
          <a:blip r:embed="rId5"/>
          <a:stretch>
            <a:fillRect/>
          </a:stretch>
        </p:blipFill>
        <p:spPr>
          <a:xfrm>
            <a:off x="9144000" y="10097770"/>
            <a:ext cx="9144000" cy="189229"/>
          </a:xfrm>
          <a:prstGeom prst="rect">
            <a:avLst/>
          </a:prstGeom>
        </p:spPr>
      </p:pic>
      <p:pic>
        <p:nvPicPr>
          <p:cNvPr id="6" name="Picture 5" descr="image.png"/>
          <p:cNvPicPr>
            <a:picLocks noChangeAspect="1"/>
          </p:cNvPicPr>
          <p:nvPr/>
        </p:nvPicPr>
        <p:blipFill>
          <a:blip r:embed="rId6"/>
          <a:stretch>
            <a:fillRect/>
          </a:stretch>
        </p:blipFill>
        <p:spPr>
          <a:xfrm>
            <a:off x="15500350" y="323850"/>
            <a:ext cx="615950" cy="615950"/>
          </a:xfrm>
          <a:prstGeom prst="rect">
            <a:avLst/>
          </a:prstGeom>
        </p:spPr>
      </p:pic>
      <p:sp>
        <p:nvSpPr>
          <p:cNvPr id="7" name="TextBox 6"/>
          <p:cNvSpPr txBox="1"/>
          <p:nvPr/>
        </p:nvSpPr>
        <p:spPr>
          <a:xfrm>
            <a:off x="16229330" y="464820"/>
            <a:ext cx="1663700" cy="406399"/>
          </a:xfrm>
          <a:prstGeom prst="rect">
            <a:avLst/>
          </a:prstGeom>
          <a:noFill/>
        </p:spPr>
        <p:txBody>
          <a:bodyPr wrap="none" lIns="0" tIns="0" rIns="0" bIns="0" anchor="ctr">
            <a:spAutoFit/>
          </a:bodyPr>
          <a:lstStyle/>
          <a:p>
            <a:r>
              <a:rPr sz="3200" b="1" spc="117">
                <a:solidFill>
                  <a:srgbClr val="303642"/>
                </a:solidFill>
                <a:latin typeface="Noto Serif"/>
              </a:rPr>
              <a:t>OSCode</a:t>
            </a:r>
          </a:p>
        </p:txBody>
      </p:sp>
      <p:sp>
        <p:nvSpPr>
          <p:cNvPr id="8" name="TextBox 7"/>
          <p:cNvSpPr txBox="1"/>
          <p:nvPr/>
        </p:nvSpPr>
        <p:spPr>
          <a:xfrm>
            <a:off x="16479519" y="795020"/>
            <a:ext cx="1418590" cy="177799"/>
          </a:xfrm>
          <a:prstGeom prst="rect">
            <a:avLst/>
          </a:prstGeom>
          <a:noFill/>
        </p:spPr>
        <p:txBody>
          <a:bodyPr wrap="none" lIns="0" tIns="0" rIns="0" bIns="0" anchor="ctr">
            <a:spAutoFit/>
          </a:bodyPr>
          <a:lstStyle/>
          <a:p>
            <a:r>
              <a:rPr sz="1400" spc="40">
                <a:solidFill>
                  <a:srgbClr val="303642"/>
                </a:solidFill>
                <a:latin typeface="Noto Serif"/>
              </a:rPr>
              <a:t>by community</a:t>
            </a:r>
            <a:r>
              <a:rPr sz="1400" b="1" spc="-25">
                <a:solidFill>
                  <a:srgbClr val="00AEEF"/>
                </a:solidFill>
                <a:latin typeface="Noto Serif"/>
              </a:rPr>
              <a:t>X</a:t>
            </a:r>
          </a:p>
        </p:txBody>
      </p:sp>
      <p:sp>
        <p:nvSpPr>
          <p:cNvPr id="10" name="TextBox 9">
            <a:extLst>
              <a:ext uri="{FF2B5EF4-FFF2-40B4-BE49-F238E27FC236}">
                <a16:creationId xmlns:a16="http://schemas.microsoft.com/office/drawing/2014/main" id="{04641C89-6E83-2ECE-5BC0-48AF8256F4AE}"/>
              </a:ext>
            </a:extLst>
          </p:cNvPr>
          <p:cNvSpPr txBox="1"/>
          <p:nvPr/>
        </p:nvSpPr>
        <p:spPr>
          <a:xfrm rot="10800000" flipH="1" flipV="1">
            <a:off x="929147" y="95042"/>
            <a:ext cx="10427111" cy="10033516"/>
          </a:xfrm>
          <a:prstGeom prst="rect">
            <a:avLst/>
          </a:prstGeom>
          <a:noFill/>
        </p:spPr>
        <p:txBody>
          <a:bodyPr wrap="square" rtlCol="0">
            <a:spAutoFit/>
          </a:bodyPr>
          <a:lstStyle/>
          <a:p>
            <a:endParaRPr lang="en-IN" sz="3200" b="1" dirty="0"/>
          </a:p>
          <a:p>
            <a:r>
              <a:rPr lang="en-IN" sz="3200" b="1" dirty="0"/>
              <a:t>HOW DOES OUR SOLUTION PRACTICALLY FILL THE GAP?</a:t>
            </a:r>
          </a:p>
          <a:p>
            <a:endParaRPr lang="en-IN" sz="2400" dirty="0"/>
          </a:p>
          <a:p>
            <a:r>
              <a:rPr lang="en-IN" sz="2400" dirty="0"/>
              <a:t>SentinelShield AI introduces a real-time link protection layer.</a:t>
            </a:r>
          </a:p>
          <a:p>
            <a:endParaRPr lang="en-IN" sz="2800" b="1" dirty="0"/>
          </a:p>
          <a:p>
            <a:pPr marL="457200" indent="-457200">
              <a:buFont typeface="Wingdings" panose="05000000000000000000" pitchFamily="2" charset="2"/>
              <a:buChar char="q"/>
            </a:pPr>
            <a:r>
              <a:rPr lang="en-IN" sz="2800" b="1" dirty="0"/>
              <a:t>Current approach:</a:t>
            </a:r>
          </a:p>
          <a:p>
            <a:r>
              <a:rPr lang="en-IN" sz="2000" dirty="0"/>
              <a:t>Suspicious SMS</a:t>
            </a:r>
          </a:p>
          <a:p>
            <a:r>
              <a:rPr lang="en-IN" sz="2000" dirty="0"/>
              <a:t>      ↓</a:t>
            </a:r>
          </a:p>
          <a:p>
            <a:r>
              <a:rPr lang="en-IN" sz="2000" dirty="0"/>
              <a:t>User clicks</a:t>
            </a:r>
          </a:p>
          <a:p>
            <a:r>
              <a:rPr lang="en-IN" sz="2000" dirty="0"/>
              <a:t>      ↓</a:t>
            </a:r>
          </a:p>
          <a:p>
            <a:r>
              <a:rPr lang="en-IN" sz="2000" dirty="0"/>
              <a:t>Fraudulent website</a:t>
            </a:r>
          </a:p>
          <a:p>
            <a:r>
              <a:rPr lang="en-IN" sz="2000" dirty="0"/>
              <a:t>      ↓</a:t>
            </a:r>
          </a:p>
          <a:p>
            <a:r>
              <a:rPr lang="en-IN" sz="2000" dirty="0"/>
              <a:t>User realizes something is wrong</a:t>
            </a:r>
          </a:p>
          <a:p>
            <a:endParaRPr lang="en-IN" sz="2400" dirty="0"/>
          </a:p>
          <a:p>
            <a:endParaRPr lang="en-IN" sz="2400" b="1" dirty="0"/>
          </a:p>
          <a:p>
            <a:pPr marL="457200" indent="-457200">
              <a:buFont typeface="Wingdings" panose="05000000000000000000" pitchFamily="2" charset="2"/>
              <a:buChar char="ü"/>
            </a:pPr>
            <a:r>
              <a:rPr lang="en-IN" sz="2800" b="1" dirty="0"/>
              <a:t>SentinelShield approach:</a:t>
            </a:r>
          </a:p>
          <a:p>
            <a:r>
              <a:rPr lang="en-IN" sz="2000" dirty="0"/>
              <a:t>Suspicious SMS</a:t>
            </a:r>
          </a:p>
          <a:p>
            <a:r>
              <a:rPr lang="en-IN" sz="2000" dirty="0"/>
              <a:t>      ↓</a:t>
            </a:r>
          </a:p>
          <a:p>
            <a:r>
              <a:rPr lang="en-IN" sz="2000" dirty="0"/>
              <a:t>User taps link</a:t>
            </a:r>
          </a:p>
          <a:p>
            <a:r>
              <a:rPr lang="en-IN" sz="2000" dirty="0"/>
              <a:t>      ↓</a:t>
            </a:r>
          </a:p>
          <a:p>
            <a:r>
              <a:rPr lang="en-IN" sz="2000" dirty="0"/>
              <a:t>SentinelShield analyzes destination</a:t>
            </a:r>
          </a:p>
          <a:p>
            <a:r>
              <a:rPr lang="en-IN" sz="2000" dirty="0"/>
              <a:t>      ↓</a:t>
            </a:r>
          </a:p>
          <a:p>
            <a:r>
              <a:rPr lang="en-IN" sz="2000" dirty="0"/>
              <a:t>AI Risk Assessment</a:t>
            </a:r>
          </a:p>
          <a:p>
            <a:r>
              <a:rPr lang="en-IN" sz="2000" dirty="0"/>
              <a:t>      ↓</a:t>
            </a:r>
          </a:p>
          <a:p>
            <a:r>
              <a:rPr lang="en-IN" sz="2000" dirty="0"/>
              <a:t>Security Alert</a:t>
            </a:r>
          </a:p>
          <a:p>
            <a:r>
              <a:rPr lang="en-IN" sz="2000" dirty="0"/>
              <a:t>      ↓</a:t>
            </a:r>
          </a:p>
          <a:p>
            <a:r>
              <a:rPr lang="en-IN" sz="2000" dirty="0"/>
              <a:t>BLOCK / CONTINUE</a:t>
            </a:r>
          </a:p>
          <a:p>
            <a:endParaRPr lang="en-IN" dirty="0"/>
          </a:p>
        </p:txBody>
      </p:sp>
      <p:sp>
        <p:nvSpPr>
          <p:cNvPr id="11" name="Rectangle 10">
            <a:extLst>
              <a:ext uri="{FF2B5EF4-FFF2-40B4-BE49-F238E27FC236}">
                <a16:creationId xmlns:a16="http://schemas.microsoft.com/office/drawing/2014/main" id="{E5B72AE4-462E-1341-0567-6A33E7DC85F0}"/>
              </a:ext>
            </a:extLst>
          </p:cNvPr>
          <p:cNvSpPr/>
          <p:nvPr/>
        </p:nvSpPr>
        <p:spPr>
          <a:xfrm>
            <a:off x="929146" y="2286000"/>
            <a:ext cx="4279043" cy="285750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CBCBC080-4FBC-A8D8-62E9-7614EF886CCD}"/>
              </a:ext>
            </a:extLst>
          </p:cNvPr>
          <p:cNvSpPr/>
          <p:nvPr/>
        </p:nvSpPr>
        <p:spPr>
          <a:xfrm>
            <a:off x="766916" y="2286000"/>
            <a:ext cx="4586749" cy="2684206"/>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6" name="Rectangle 15">
            <a:extLst>
              <a:ext uri="{FF2B5EF4-FFF2-40B4-BE49-F238E27FC236}">
                <a16:creationId xmlns:a16="http://schemas.microsoft.com/office/drawing/2014/main" id="{0825B9F4-8E82-F715-6059-8679567E63DC}"/>
              </a:ext>
            </a:extLst>
          </p:cNvPr>
          <p:cNvSpPr/>
          <p:nvPr/>
        </p:nvSpPr>
        <p:spPr>
          <a:xfrm>
            <a:off x="929146" y="2286000"/>
            <a:ext cx="4279043" cy="285750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7" name="Rectangle 16">
            <a:extLst>
              <a:ext uri="{FF2B5EF4-FFF2-40B4-BE49-F238E27FC236}">
                <a16:creationId xmlns:a16="http://schemas.microsoft.com/office/drawing/2014/main" id="{993BC632-C7D0-8DA6-D607-EA3B3098E2BC}"/>
              </a:ext>
            </a:extLst>
          </p:cNvPr>
          <p:cNvSpPr/>
          <p:nvPr/>
        </p:nvSpPr>
        <p:spPr>
          <a:xfrm>
            <a:off x="766916" y="2286000"/>
            <a:ext cx="4441273" cy="285750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8" name="Rectangle 17">
            <a:extLst>
              <a:ext uri="{FF2B5EF4-FFF2-40B4-BE49-F238E27FC236}">
                <a16:creationId xmlns:a16="http://schemas.microsoft.com/office/drawing/2014/main" id="{D6CE5025-7B23-DF43-84E6-56D3CA41A0EC}"/>
              </a:ext>
            </a:extLst>
          </p:cNvPr>
          <p:cNvSpPr/>
          <p:nvPr/>
        </p:nvSpPr>
        <p:spPr>
          <a:xfrm>
            <a:off x="929146" y="2521974"/>
            <a:ext cx="4807977" cy="2684206"/>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20" name="Rectangle 19">
            <a:extLst>
              <a:ext uri="{FF2B5EF4-FFF2-40B4-BE49-F238E27FC236}">
                <a16:creationId xmlns:a16="http://schemas.microsoft.com/office/drawing/2014/main" id="{AD35E514-1791-715F-D521-71257E603DC5}"/>
              </a:ext>
            </a:extLst>
          </p:cNvPr>
          <p:cNvSpPr/>
          <p:nvPr/>
        </p:nvSpPr>
        <p:spPr>
          <a:xfrm>
            <a:off x="884901" y="2713703"/>
            <a:ext cx="3657602" cy="225650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21" name="Rectangle 20">
            <a:extLst>
              <a:ext uri="{FF2B5EF4-FFF2-40B4-BE49-F238E27FC236}">
                <a16:creationId xmlns:a16="http://schemas.microsoft.com/office/drawing/2014/main" id="{EA5F3549-7023-3DC1-E5FE-2AB0E25E5503}"/>
              </a:ext>
            </a:extLst>
          </p:cNvPr>
          <p:cNvSpPr/>
          <p:nvPr/>
        </p:nvSpPr>
        <p:spPr>
          <a:xfrm>
            <a:off x="884901" y="5973096"/>
            <a:ext cx="4323288" cy="3421627"/>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8288000" cy="10287000"/>
          </a:xfrm>
          <a:prstGeom prst="rect">
            <a:avLst/>
          </a:prstGeom>
        </p:spPr>
      </p:pic>
      <p:pic>
        <p:nvPicPr>
          <p:cNvPr id="3" name="Picture 2" descr="image.png"/>
          <p:cNvPicPr>
            <a:picLocks noChangeAspect="1"/>
          </p:cNvPicPr>
          <p:nvPr/>
        </p:nvPicPr>
        <p:blipFill>
          <a:blip r:embed="rId3"/>
          <a:stretch>
            <a:fillRect/>
          </a:stretch>
        </p:blipFill>
        <p:spPr>
          <a:xfrm>
            <a:off x="10331450" y="1752600"/>
            <a:ext cx="7956550" cy="8534400"/>
          </a:xfrm>
          <a:prstGeom prst="rect">
            <a:avLst/>
          </a:prstGeom>
        </p:spPr>
      </p:pic>
      <p:pic>
        <p:nvPicPr>
          <p:cNvPr id="4" name="Picture 3" descr="image.png"/>
          <p:cNvPicPr>
            <a:picLocks noChangeAspect="1"/>
          </p:cNvPicPr>
          <p:nvPr/>
        </p:nvPicPr>
        <p:blipFill>
          <a:blip r:embed="rId4"/>
          <a:stretch>
            <a:fillRect/>
          </a:stretch>
        </p:blipFill>
        <p:spPr>
          <a:xfrm>
            <a:off x="0" y="10097770"/>
            <a:ext cx="18288000" cy="189229"/>
          </a:xfrm>
          <a:prstGeom prst="rect">
            <a:avLst/>
          </a:prstGeom>
        </p:spPr>
      </p:pic>
      <p:pic>
        <p:nvPicPr>
          <p:cNvPr id="5" name="Picture 4" descr="image.png"/>
          <p:cNvPicPr>
            <a:picLocks noChangeAspect="1"/>
          </p:cNvPicPr>
          <p:nvPr/>
        </p:nvPicPr>
        <p:blipFill>
          <a:blip r:embed="rId5"/>
          <a:stretch>
            <a:fillRect/>
          </a:stretch>
        </p:blipFill>
        <p:spPr>
          <a:xfrm>
            <a:off x="9144000" y="10097770"/>
            <a:ext cx="9144000" cy="189229"/>
          </a:xfrm>
          <a:prstGeom prst="rect">
            <a:avLst/>
          </a:prstGeom>
        </p:spPr>
      </p:pic>
      <p:pic>
        <p:nvPicPr>
          <p:cNvPr id="6" name="Picture 5" descr="image.png"/>
          <p:cNvPicPr>
            <a:picLocks noChangeAspect="1"/>
          </p:cNvPicPr>
          <p:nvPr/>
        </p:nvPicPr>
        <p:blipFill>
          <a:blip r:embed="rId6"/>
          <a:stretch>
            <a:fillRect/>
          </a:stretch>
        </p:blipFill>
        <p:spPr>
          <a:xfrm>
            <a:off x="15500350" y="323850"/>
            <a:ext cx="615950" cy="615950"/>
          </a:xfrm>
          <a:prstGeom prst="rect">
            <a:avLst/>
          </a:prstGeom>
        </p:spPr>
      </p:pic>
      <p:sp>
        <p:nvSpPr>
          <p:cNvPr id="7" name="TextBox 6"/>
          <p:cNvSpPr txBox="1"/>
          <p:nvPr/>
        </p:nvSpPr>
        <p:spPr>
          <a:xfrm>
            <a:off x="16229330" y="464820"/>
            <a:ext cx="1663700" cy="406399"/>
          </a:xfrm>
          <a:prstGeom prst="rect">
            <a:avLst/>
          </a:prstGeom>
          <a:noFill/>
        </p:spPr>
        <p:txBody>
          <a:bodyPr wrap="none" lIns="0" tIns="0" rIns="0" bIns="0" anchor="ctr">
            <a:spAutoFit/>
          </a:bodyPr>
          <a:lstStyle/>
          <a:p>
            <a:r>
              <a:rPr sz="3200" b="1" spc="117">
                <a:solidFill>
                  <a:srgbClr val="303642"/>
                </a:solidFill>
                <a:latin typeface="Noto Serif"/>
              </a:rPr>
              <a:t>OSCode</a:t>
            </a:r>
          </a:p>
        </p:txBody>
      </p:sp>
      <p:sp>
        <p:nvSpPr>
          <p:cNvPr id="8" name="TextBox 7"/>
          <p:cNvSpPr txBox="1"/>
          <p:nvPr/>
        </p:nvSpPr>
        <p:spPr>
          <a:xfrm>
            <a:off x="16479519" y="795020"/>
            <a:ext cx="1418590" cy="177799"/>
          </a:xfrm>
          <a:prstGeom prst="rect">
            <a:avLst/>
          </a:prstGeom>
          <a:noFill/>
        </p:spPr>
        <p:txBody>
          <a:bodyPr wrap="none" lIns="0" tIns="0" rIns="0" bIns="0" anchor="ctr">
            <a:spAutoFit/>
          </a:bodyPr>
          <a:lstStyle/>
          <a:p>
            <a:r>
              <a:rPr sz="1400" spc="40">
                <a:solidFill>
                  <a:srgbClr val="303642"/>
                </a:solidFill>
                <a:latin typeface="Noto Serif"/>
              </a:rPr>
              <a:t>by community</a:t>
            </a:r>
            <a:r>
              <a:rPr sz="1400" b="1" spc="-25">
                <a:solidFill>
                  <a:srgbClr val="00AEEF"/>
                </a:solidFill>
                <a:latin typeface="Noto Serif"/>
              </a:rPr>
              <a:t>X</a:t>
            </a:r>
          </a:p>
        </p:txBody>
      </p:sp>
      <p:sp>
        <p:nvSpPr>
          <p:cNvPr id="9" name="TextBox 8">
            <a:extLst>
              <a:ext uri="{FF2B5EF4-FFF2-40B4-BE49-F238E27FC236}">
                <a16:creationId xmlns:a16="http://schemas.microsoft.com/office/drawing/2014/main" id="{DE552B59-8B28-B268-C1A4-E1B4537AC5E5}"/>
              </a:ext>
            </a:extLst>
          </p:cNvPr>
          <p:cNvSpPr txBox="1"/>
          <p:nvPr/>
        </p:nvSpPr>
        <p:spPr>
          <a:xfrm>
            <a:off x="925025" y="1328024"/>
            <a:ext cx="10247437" cy="5878532"/>
          </a:xfrm>
          <a:prstGeom prst="rect">
            <a:avLst/>
          </a:prstGeom>
          <a:noFill/>
        </p:spPr>
        <p:txBody>
          <a:bodyPr wrap="square" rtlCol="0">
            <a:spAutoFit/>
          </a:bodyPr>
          <a:lstStyle/>
          <a:p>
            <a:r>
              <a:rPr lang="en-IN" sz="3200" b="1" dirty="0"/>
              <a:t>Connection with Existing Schemes</a:t>
            </a:r>
          </a:p>
          <a:p>
            <a:endParaRPr lang="en-IN" sz="3200" b="1" dirty="0"/>
          </a:p>
          <a:p>
            <a:r>
              <a:rPr lang="en-IN" sz="2400" dirty="0"/>
              <a:t>SentinelShield AI supports India’s ongoing efforts toward secure digital transformation, AI adoption, cybersecurity, and safe digital payments.</a:t>
            </a:r>
          </a:p>
          <a:p>
            <a:endParaRPr lang="en-IN" sz="2400" dirty="0"/>
          </a:p>
          <a:p>
            <a:pPr marL="342900" indent="-342900">
              <a:buFont typeface="Arial" panose="020B0604020202020204" pitchFamily="34" charset="0"/>
              <a:buChar char="•"/>
            </a:pPr>
            <a:r>
              <a:rPr lang="en-IN" sz="2400" dirty="0"/>
              <a:t>Digital India – Strengthens trust and safety in the digital ecosystem.
IndiaAI Mission – Applies AI/ML for intelligent, real-time fraud detection.
Cyber Surakshit Bharat – Promotes cybersecurity awareness and safer digital practices.
Digital Payment Security – Adds an AI-driven security layer to protect UPI users.</a:t>
            </a:r>
          </a:p>
          <a:p>
            <a:r>
              <a:rPr lang="en-IN" sz="2400" dirty="0"/>
              <a:t>
</a:t>
            </a:r>
            <a:r>
              <a:rPr lang="en-IN" sz="2400" b="1" dirty="0"/>
              <a:t>Overall Contribution</a:t>
            </a:r>
            <a:r>
              <a:rPr lang="en-IN" sz="2400" dirty="0"/>
              <a:t>
Provides a proactive AI-based security layer that detects potential threats early and helps prevent digital payment fraud.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50008F-72F0-51E6-5A61-10BC333281FB}"/>
              </a:ext>
            </a:extLst>
          </p:cNvPr>
          <p:cNvPicPr>
            <a:picLocks noChangeAspect="1"/>
          </p:cNvPicPr>
          <p:nvPr/>
        </p:nvPicPr>
        <p:blipFill>
          <a:blip r:embed="rId2"/>
          <a:stretch>
            <a:fillRect/>
          </a:stretch>
        </p:blipFill>
        <p:spPr>
          <a:xfrm>
            <a:off x="0" y="0"/>
            <a:ext cx="18288000" cy="10287000"/>
          </a:xfrm>
          <a:prstGeom prst="rect">
            <a:avLst/>
          </a:prstGeom>
        </p:spPr>
      </p:pic>
      <p:sp>
        <p:nvSpPr>
          <p:cNvPr id="4" name="TextBox 3">
            <a:extLst>
              <a:ext uri="{FF2B5EF4-FFF2-40B4-BE49-F238E27FC236}">
                <a16:creationId xmlns:a16="http://schemas.microsoft.com/office/drawing/2014/main" id="{23058854-0DFC-A773-392C-F0BCC8C2C86D}"/>
              </a:ext>
            </a:extLst>
          </p:cNvPr>
          <p:cNvSpPr txBox="1"/>
          <p:nvPr/>
        </p:nvSpPr>
        <p:spPr>
          <a:xfrm>
            <a:off x="852714" y="616857"/>
            <a:ext cx="11275961" cy="9818072"/>
          </a:xfrm>
          <a:prstGeom prst="rect">
            <a:avLst/>
          </a:prstGeom>
          <a:noFill/>
        </p:spPr>
        <p:txBody>
          <a:bodyPr wrap="square" rtlCol="0">
            <a:spAutoFit/>
          </a:bodyPr>
          <a:lstStyle/>
          <a:p>
            <a:r>
              <a:rPr lang="en-IN" sz="4800" b="1" dirty="0"/>
              <a:t>PROPOSED SOLUTION</a:t>
            </a:r>
          </a:p>
          <a:p>
            <a:endParaRPr lang="en-IN" sz="4800" b="1" dirty="0"/>
          </a:p>
          <a:p>
            <a:r>
              <a:rPr lang="en-IN" sz="3200" b="1" dirty="0"/>
              <a:t>What are we Building?</a:t>
            </a:r>
          </a:p>
          <a:p>
            <a:r>
              <a:rPr lang="en-IN" sz="2400" dirty="0"/>
              <a:t>
We are building </a:t>
            </a:r>
            <a:r>
              <a:rPr lang="en-IN" sz="2400" b="1" i="1" dirty="0"/>
              <a:t>SentinelShield AI</a:t>
            </a:r>
            <a:r>
              <a:rPr lang="en-IN" sz="2400" dirty="0"/>
              <a:t>, a lightweight AI-driven UPI fraud prevention system that analyzes transaction and user-behavior signals in real time to identify suspicious activity. The system generates a dynamic fraud-risk score for each transaction and, when the risk exceeds a defined threshold, provides an immediate warning or preventive action before the transaction can result in financial loss. The solution is designed to work as an additional intelligence layer alongside existing UPI, banking, and payment systems, making it practical, scalable, and adaptable to evolving fraud patterns.</a:t>
            </a:r>
          </a:p>
          <a:p>
            <a:endParaRPr lang="en-IN" sz="2400" dirty="0"/>
          </a:p>
          <a:p>
            <a:r>
              <a:rPr lang="en-IN" sz="3200" b="1" dirty="0"/>
              <a:t>Key Features of SentinelShield AI</a:t>
            </a:r>
          </a:p>
          <a:p>
            <a:pPr marL="342900" indent="-342900">
              <a:buFont typeface="Arial" panose="020B0604020202020204" pitchFamily="34" charset="0"/>
              <a:buChar char="•"/>
            </a:pPr>
            <a:r>
              <a:rPr lang="en-IN" sz="2400" dirty="0"/>
              <a:t>Real-Time Transaction Monitoring – Continuously analyzes UPI transactions for suspicious activity.
AI/ML Fraud Detection – Identifies unusual patterns beyond predefined fraud rules.
Behavioral Analysis – Compares transactions with the user’s normal payment behavior.
Dynamic Risk Scoring – Assigns a risk score based on multiple fraud indicators.
Instant Fraud Alerts – Warns users immediately when high-risk activity is detected.
Preventive Action – Can trigger additional verification or block/hold high-risk transactions.</a:t>
            </a:r>
          </a:p>
          <a:p>
            <a:endParaRPr lang="en-IN" sz="3200" b="1" dirty="0"/>
          </a:p>
          <a:p>
            <a:endParaRPr lang="en-IN" sz="3200" b="1" dirty="0"/>
          </a:p>
        </p:txBody>
      </p:sp>
    </p:spTree>
    <p:extLst>
      <p:ext uri="{BB962C8B-B14F-4D97-AF65-F5344CB8AC3E}">
        <p14:creationId xmlns:p14="http://schemas.microsoft.com/office/powerpoint/2010/main" val="1499932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AFFA3C2-C1AA-5022-63D3-3CC9762C1546}"/>
              </a:ext>
            </a:extLst>
          </p:cNvPr>
          <p:cNvPicPr>
            <a:picLocks noChangeAspect="1"/>
          </p:cNvPicPr>
          <p:nvPr/>
        </p:nvPicPr>
        <p:blipFill>
          <a:blip r:embed="rId2"/>
          <a:stretch>
            <a:fillRect/>
          </a:stretch>
        </p:blipFill>
        <p:spPr>
          <a:xfrm>
            <a:off x="0" y="0"/>
            <a:ext cx="18288000" cy="10287000"/>
          </a:xfrm>
          <a:prstGeom prst="rect">
            <a:avLst/>
          </a:prstGeom>
        </p:spPr>
      </p:pic>
      <p:sp>
        <p:nvSpPr>
          <p:cNvPr id="4" name="TextBox 3">
            <a:extLst>
              <a:ext uri="{FF2B5EF4-FFF2-40B4-BE49-F238E27FC236}">
                <a16:creationId xmlns:a16="http://schemas.microsoft.com/office/drawing/2014/main" id="{202CC97C-25F7-4909-29E5-214C57D8736E}"/>
              </a:ext>
            </a:extLst>
          </p:cNvPr>
          <p:cNvSpPr txBox="1"/>
          <p:nvPr/>
        </p:nvSpPr>
        <p:spPr>
          <a:xfrm>
            <a:off x="634181" y="663677"/>
            <a:ext cx="11002296" cy="8094524"/>
          </a:xfrm>
          <a:prstGeom prst="rect">
            <a:avLst/>
          </a:prstGeom>
          <a:noFill/>
        </p:spPr>
        <p:txBody>
          <a:bodyPr wrap="square" rtlCol="0">
            <a:spAutoFit/>
          </a:bodyPr>
          <a:lstStyle/>
          <a:p>
            <a:r>
              <a:rPr lang="en-IN" sz="3200" b="1" dirty="0"/>
              <a:t>What Makes Our Solution Innovative?</a:t>
            </a:r>
          </a:p>
          <a:p>
            <a:endParaRPr lang="en-IN" sz="3200" b="1" dirty="0"/>
          </a:p>
          <a:p>
            <a:pPr marL="342900" lvl="0" indent="-342900">
              <a:buFont typeface="Arial" panose="020B0604020202020204" pitchFamily="34" charset="0"/>
              <a:buChar char="•"/>
            </a:pPr>
            <a:r>
              <a:rPr lang="en-IN" sz="2400" b="1" dirty="0"/>
              <a:t>Real-Time Protection:</a:t>
            </a:r>
            <a:r>
              <a:rPr lang="en-IN" sz="2400" dirty="0"/>
              <a:t> Analyzes links when users attempt to access them, reducing dependence on manual URL checking.</a:t>
            </a:r>
          </a:p>
          <a:p>
            <a:pPr lvl="0"/>
            <a:endParaRPr lang="en-IN" sz="2400" dirty="0"/>
          </a:p>
          <a:p>
            <a:pPr marL="342900" lvl="0" indent="-342900">
              <a:buFont typeface="Arial" panose="020B0604020202020204" pitchFamily="34" charset="0"/>
              <a:buChar char="•"/>
            </a:pPr>
            <a:r>
              <a:rPr lang="en-IN" sz="2400" b="1" dirty="0"/>
              <a:t>AI-Based Detection:</a:t>
            </a:r>
            <a:r>
              <a:rPr lang="en-IN" sz="2400" dirty="0"/>
              <a:t> Uses Machine Learning to identify suspicious URL and domain patterns associated with phishing.</a:t>
            </a:r>
          </a:p>
          <a:p>
            <a:pPr lvl="0"/>
            <a:endParaRPr lang="en-IN" sz="2400" dirty="0"/>
          </a:p>
          <a:p>
            <a:pPr marL="342900" lvl="0" indent="-342900">
              <a:buFont typeface="Arial" panose="020B0604020202020204" pitchFamily="34" charset="0"/>
              <a:buChar char="•"/>
            </a:pPr>
            <a:r>
              <a:rPr lang="en-IN" sz="2400" b="1" dirty="0"/>
              <a:t>Multi-Layer Risk Assessment:</a:t>
            </a:r>
            <a:r>
              <a:rPr lang="en-IN" sz="2400" dirty="0"/>
              <a:t> Combines AI predictions, URL analysis, domain intelligence, and threat-reputation signals for improved detection.</a:t>
            </a:r>
          </a:p>
          <a:p>
            <a:pPr lvl="0"/>
            <a:endParaRPr lang="en-IN" sz="2400" dirty="0"/>
          </a:p>
          <a:p>
            <a:pPr marL="342900" lvl="0" indent="-342900">
              <a:buFont typeface="Arial" panose="020B0604020202020204" pitchFamily="34" charset="0"/>
              <a:buChar char="•"/>
            </a:pPr>
            <a:r>
              <a:rPr lang="en-IN" sz="2400" b="1" dirty="0"/>
              <a:t>Explainable Alerts:</a:t>
            </a:r>
            <a:r>
              <a:rPr lang="en-IN" sz="2400" dirty="0"/>
              <a:t> Provides a risk score along with clear reasons for the warning instead of only showing “Safe” or “Unsafe.”</a:t>
            </a:r>
          </a:p>
          <a:p>
            <a:pPr lvl="0"/>
            <a:endParaRPr lang="en-IN" sz="2400" dirty="0"/>
          </a:p>
          <a:p>
            <a:pPr marL="342900" lvl="0" indent="-342900">
              <a:buFont typeface="Arial" panose="020B0604020202020204" pitchFamily="34" charset="0"/>
              <a:buChar char="•"/>
            </a:pPr>
            <a:r>
              <a:rPr lang="en-IN" sz="2400" b="1" dirty="0"/>
              <a:t>Preventive Security:</a:t>
            </a:r>
            <a:r>
              <a:rPr lang="en-IN" sz="2400" dirty="0"/>
              <a:t> Helps users identify and avoid potentially malicious destinations before they become victims of phishing-based financial fraud.</a:t>
            </a:r>
          </a:p>
          <a:p>
            <a:pPr lvl="0"/>
            <a:endParaRPr lang="en-IN" sz="2400" dirty="0"/>
          </a:p>
          <a:p>
            <a:r>
              <a:rPr lang="en-IN" sz="2400" b="1" dirty="0"/>
              <a:t>Key Innovation:</a:t>
            </a:r>
          </a:p>
          <a:p>
            <a:r>
              <a:rPr lang="en-IN" sz="2400" b="1" i="1" dirty="0"/>
              <a:t>A real-time, AI-driven and explainable security layer that makes phishing protection proactive, accessible, and user-centric.</a:t>
            </a:r>
            <a:endParaRPr lang="en-IN" sz="2400" i="1" dirty="0"/>
          </a:p>
          <a:p>
            <a:endParaRPr lang="en-IN" sz="2400" dirty="0"/>
          </a:p>
        </p:txBody>
      </p:sp>
    </p:spTree>
    <p:extLst>
      <p:ext uri="{BB962C8B-B14F-4D97-AF65-F5344CB8AC3E}">
        <p14:creationId xmlns:p14="http://schemas.microsoft.com/office/powerpoint/2010/main" val="29296609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B9532E-71DE-4406-2974-59D38F57D4CA}"/>
              </a:ext>
            </a:extLst>
          </p:cNvPr>
          <p:cNvPicPr>
            <a:picLocks noChangeAspect="1"/>
          </p:cNvPicPr>
          <p:nvPr/>
        </p:nvPicPr>
        <p:blipFill>
          <a:blip r:embed="rId2"/>
          <a:stretch>
            <a:fillRect/>
          </a:stretch>
        </p:blipFill>
        <p:spPr>
          <a:xfrm>
            <a:off x="0" y="0"/>
            <a:ext cx="18288000" cy="10287000"/>
          </a:xfrm>
          <a:prstGeom prst="rect">
            <a:avLst/>
          </a:prstGeom>
        </p:spPr>
      </p:pic>
      <p:sp>
        <p:nvSpPr>
          <p:cNvPr id="5" name="TextBox 4">
            <a:extLst>
              <a:ext uri="{FF2B5EF4-FFF2-40B4-BE49-F238E27FC236}">
                <a16:creationId xmlns:a16="http://schemas.microsoft.com/office/drawing/2014/main" id="{E5DB3AA3-4513-88F7-63C0-29F009DC0A94}"/>
              </a:ext>
            </a:extLst>
          </p:cNvPr>
          <p:cNvSpPr txBox="1"/>
          <p:nvPr/>
        </p:nvSpPr>
        <p:spPr>
          <a:xfrm>
            <a:off x="545690" y="309716"/>
            <a:ext cx="11179278" cy="13634502"/>
          </a:xfrm>
          <a:prstGeom prst="rect">
            <a:avLst/>
          </a:prstGeom>
          <a:noFill/>
        </p:spPr>
        <p:txBody>
          <a:bodyPr wrap="square" rtlCol="0">
            <a:spAutoFit/>
          </a:bodyPr>
          <a:lstStyle/>
          <a:p>
            <a:r>
              <a:rPr lang="en-US" sz="4000" b="1" dirty="0"/>
              <a:t>TECH STACK AND ARCHITECTURE</a:t>
            </a:r>
          </a:p>
          <a:p>
            <a:endParaRPr lang="en-US" sz="4000" b="1" dirty="0"/>
          </a:p>
          <a:p>
            <a:r>
              <a:rPr lang="en-IN" sz="2800" b="1" dirty="0"/>
              <a:t>TECH STACK</a:t>
            </a:r>
          </a:p>
          <a:p>
            <a:r>
              <a:rPr lang="en-IN" sz="2400" b="1" i="1" dirty="0"/>
              <a:t>Flutter | Python | </a:t>
            </a:r>
            <a:r>
              <a:rPr lang="en-IN" sz="2400" b="1" i="1" dirty="0" err="1"/>
              <a:t>FastAPI</a:t>
            </a:r>
            <a:r>
              <a:rPr lang="en-IN" sz="2400" b="1" i="1" dirty="0"/>
              <a:t> | </a:t>
            </a:r>
            <a:r>
              <a:rPr lang="en-IN" sz="2400" b="1" i="1" dirty="0" err="1"/>
              <a:t>XGBoost</a:t>
            </a:r>
            <a:r>
              <a:rPr lang="en-IN" sz="2400" b="1" i="1" dirty="0"/>
              <a:t> | Google Safe Browsing API | AWS</a:t>
            </a:r>
          </a:p>
          <a:p>
            <a:endParaRPr lang="en-IN" sz="2400" b="1" i="1" dirty="0"/>
          </a:p>
          <a:p>
            <a:r>
              <a:rPr lang="en-IN" sz="2800" b="1" dirty="0"/>
              <a:t>APIs/Libraries</a:t>
            </a:r>
          </a:p>
          <a:p>
            <a:r>
              <a:rPr lang="en-IN" sz="2400" b="1" i="1" dirty="0"/>
              <a:t>Google Safe Browsing API | </a:t>
            </a:r>
            <a:r>
              <a:rPr lang="en-IN" sz="2400" b="1" i="1" dirty="0" err="1"/>
              <a:t>Scikit</a:t>
            </a:r>
            <a:r>
              <a:rPr lang="en-IN" sz="2400" b="1" i="1" dirty="0"/>
              <a:t>-learn | Pandas | </a:t>
            </a:r>
            <a:r>
              <a:rPr lang="en-IN" sz="2400" b="1" i="1" dirty="0" err="1"/>
              <a:t>NumPy</a:t>
            </a:r>
            <a:r>
              <a:rPr lang="en-IN" sz="2400" b="1" i="1" dirty="0"/>
              <a:t> | </a:t>
            </a:r>
            <a:r>
              <a:rPr lang="en-IN" sz="2400" b="1" i="1" dirty="0" err="1"/>
              <a:t>tldextract</a:t>
            </a:r>
            <a:r>
              <a:rPr lang="en-IN" sz="2400" b="1" i="1" dirty="0"/>
              <a:t> | Requests</a:t>
            </a:r>
          </a:p>
          <a:p>
            <a:endParaRPr lang="en-IN" sz="2400" b="1" i="1" dirty="0"/>
          </a:p>
          <a:p>
            <a:r>
              <a:rPr lang="en-IN" sz="2800" b="1" dirty="0"/>
              <a:t>Deployment Plan</a:t>
            </a:r>
          </a:p>
          <a:p>
            <a:pPr marL="342900" lvl="0" indent="-342900">
              <a:buFont typeface="Arial" panose="020B0604020202020204" pitchFamily="34" charset="0"/>
              <a:buChar char="•"/>
            </a:pPr>
            <a:r>
              <a:rPr lang="en-IN" sz="2400" b="1" dirty="0"/>
              <a:t>Mobile Application:</a:t>
            </a:r>
            <a:r>
              <a:rPr lang="en-IN" sz="2400" dirty="0"/>
              <a:t> Deploy the SentinelShield AI application on Android devices using Flutter and Android SDK.</a:t>
            </a:r>
          </a:p>
          <a:p>
            <a:pPr marL="342900" lvl="0" indent="-342900">
              <a:buFont typeface="Arial" panose="020B0604020202020204" pitchFamily="34" charset="0"/>
              <a:buChar char="•"/>
            </a:pPr>
            <a:r>
              <a:rPr lang="en-IN" sz="2400" b="1" dirty="0"/>
              <a:t>Backend Deployment:</a:t>
            </a:r>
            <a:r>
              <a:rPr lang="en-IN" sz="2400" dirty="0"/>
              <a:t> Host the </a:t>
            </a:r>
            <a:r>
              <a:rPr lang="en-IN" sz="2400" dirty="0" err="1"/>
              <a:t>FastAPI</a:t>
            </a:r>
            <a:r>
              <a:rPr lang="en-IN" sz="2400" dirty="0"/>
              <a:t> backend and AI inference service on </a:t>
            </a:r>
            <a:r>
              <a:rPr lang="en-IN" sz="2400" u="sng" dirty="0"/>
              <a:t>AWS</a:t>
            </a:r>
            <a:r>
              <a:rPr lang="en-IN" sz="2400" b="1" dirty="0"/>
              <a:t> </a:t>
            </a:r>
            <a:r>
              <a:rPr lang="en-IN" sz="2400" u="sng" dirty="0"/>
              <a:t>Cloud</a:t>
            </a:r>
            <a:r>
              <a:rPr lang="en-IN" sz="2400" dirty="0"/>
              <a:t> for reliable and scalable access.</a:t>
            </a:r>
          </a:p>
          <a:p>
            <a:pPr marL="342900" lvl="0" indent="-342900">
              <a:buFont typeface="Arial" panose="020B0604020202020204" pitchFamily="34" charset="0"/>
              <a:buChar char="•"/>
            </a:pPr>
            <a:r>
              <a:rPr lang="en-IN" sz="2400" b="1" dirty="0"/>
              <a:t>AI Model:</a:t>
            </a:r>
            <a:r>
              <a:rPr lang="en-IN" sz="2400" dirty="0"/>
              <a:t> Deploy the trained </a:t>
            </a:r>
            <a:r>
              <a:rPr lang="en-IN" sz="2400" dirty="0" err="1"/>
              <a:t>XGBoost</a:t>
            </a:r>
            <a:r>
              <a:rPr lang="en-IN" sz="2400" dirty="0"/>
              <a:t> phishing-detection model as part of the backend inference service for real-time risk assessment.</a:t>
            </a:r>
          </a:p>
          <a:p>
            <a:pPr marL="342900" lvl="0" indent="-342900">
              <a:buFont typeface="Arial" panose="020B0604020202020204" pitchFamily="34" charset="0"/>
              <a:buChar char="•"/>
            </a:pPr>
            <a:r>
              <a:rPr lang="en-IN" sz="2400" b="1" dirty="0"/>
              <a:t>Threat Intelligence:</a:t>
            </a:r>
            <a:r>
              <a:rPr lang="en-IN" sz="2400" dirty="0"/>
              <a:t> Connect the application with the </a:t>
            </a:r>
            <a:r>
              <a:rPr lang="en-IN" sz="2400" u="sng" dirty="0"/>
              <a:t>Google Safe Browsing API </a:t>
            </a:r>
            <a:r>
              <a:rPr lang="en-IN" sz="2400" dirty="0"/>
              <a:t>for real-time URL threat verification.</a:t>
            </a:r>
          </a:p>
          <a:p>
            <a:pPr marL="342900" lvl="0" indent="-342900">
              <a:buFont typeface="Arial" panose="020B0604020202020204" pitchFamily="34" charset="0"/>
              <a:buChar char="•"/>
            </a:pPr>
            <a:r>
              <a:rPr lang="en-IN" sz="2400" b="1" dirty="0"/>
              <a:t>Database:</a:t>
            </a:r>
            <a:r>
              <a:rPr lang="en-IN" sz="2400" dirty="0"/>
              <a:t> Store scan history, risk scores, and detection results using </a:t>
            </a:r>
            <a:r>
              <a:rPr lang="en-IN" sz="2400" u="sng" dirty="0"/>
              <a:t>SQLite.</a:t>
            </a:r>
          </a:p>
          <a:p>
            <a:pPr marL="342900" lvl="0" indent="-342900">
              <a:buFont typeface="Arial" panose="020B0604020202020204" pitchFamily="34" charset="0"/>
              <a:buChar char="•"/>
            </a:pPr>
            <a:r>
              <a:rPr lang="en-IN" sz="2400" b="1" dirty="0"/>
              <a:t>Continuous Updates:</a:t>
            </a:r>
            <a:r>
              <a:rPr lang="en-IN" sz="2400" dirty="0"/>
              <a:t> Regularly update the ML model and threat-detection components using newly identified phishing patterns and validated data.</a:t>
            </a:r>
          </a:p>
          <a:p>
            <a:pPr marL="342900" lvl="0" indent="-342900">
              <a:buFont typeface="Arial" panose="020B0604020202020204" pitchFamily="34" charset="0"/>
              <a:buChar char="•"/>
            </a:pPr>
            <a:endParaRPr lang="en-IN" sz="2400" dirty="0"/>
          </a:p>
          <a:p>
            <a:r>
              <a:rPr lang="en-IN" sz="2400" b="1" i="1" dirty="0"/>
              <a:t>{Android App → AWS </a:t>
            </a:r>
            <a:r>
              <a:rPr lang="en-IN" sz="2400" b="1" i="1" dirty="0" err="1"/>
              <a:t>FastAPI</a:t>
            </a:r>
            <a:r>
              <a:rPr lang="en-IN" sz="2400" b="1" i="1" dirty="0"/>
              <a:t> Backend → </a:t>
            </a:r>
            <a:r>
              <a:rPr lang="en-IN" sz="2400" b="1" i="1" dirty="0" err="1"/>
              <a:t>XGBoost</a:t>
            </a:r>
            <a:r>
              <a:rPr lang="en-IN" sz="2400" b="1" i="1" dirty="0"/>
              <a:t> Model + Safe Browsing API → Risk Assessment → Security Alert}</a:t>
            </a:r>
          </a:p>
          <a:p>
            <a:pPr lvl="0"/>
            <a:endParaRPr lang="en-IN" sz="2400" i="1" dirty="0"/>
          </a:p>
          <a:p>
            <a:endParaRPr lang="en-IN" sz="2400" b="1" dirty="0"/>
          </a:p>
          <a:p>
            <a:endParaRPr lang="en-IN" sz="3200" b="1" dirty="0"/>
          </a:p>
          <a:p>
            <a:endParaRPr lang="en-IN" sz="2400" b="1" dirty="0"/>
          </a:p>
          <a:p>
            <a:endParaRPr lang="en-IN" sz="2400" dirty="0"/>
          </a:p>
          <a:p>
            <a:endParaRPr lang="en-IN" sz="2400" b="1" i="1" dirty="0"/>
          </a:p>
          <a:p>
            <a:pPr lvl="0"/>
            <a:endParaRPr lang="en-IN" sz="2400" dirty="0"/>
          </a:p>
          <a:p>
            <a:endParaRPr lang="en-IN" sz="3200" b="1" dirty="0"/>
          </a:p>
          <a:p>
            <a:endParaRPr lang="en-IN" sz="4800" b="1" dirty="0"/>
          </a:p>
        </p:txBody>
      </p:sp>
    </p:spTree>
    <p:extLst>
      <p:ext uri="{BB962C8B-B14F-4D97-AF65-F5344CB8AC3E}">
        <p14:creationId xmlns:p14="http://schemas.microsoft.com/office/powerpoint/2010/main" val="19649565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0A6D8AC-5631-A2D1-3451-8E078C621CBA}"/>
              </a:ext>
            </a:extLst>
          </p:cNvPr>
          <p:cNvPicPr>
            <a:picLocks noChangeAspect="1"/>
          </p:cNvPicPr>
          <p:nvPr/>
        </p:nvPicPr>
        <p:blipFill>
          <a:blip r:embed="rId2"/>
          <a:stretch>
            <a:fillRect/>
          </a:stretch>
        </p:blipFill>
        <p:spPr>
          <a:xfrm>
            <a:off x="1" y="-51309"/>
            <a:ext cx="18287999" cy="10287001"/>
          </a:xfrm>
          <a:prstGeom prst="rect">
            <a:avLst/>
          </a:prstGeom>
        </p:spPr>
      </p:pic>
      <p:sp>
        <p:nvSpPr>
          <p:cNvPr id="4" name="TextBox 3">
            <a:extLst>
              <a:ext uri="{FF2B5EF4-FFF2-40B4-BE49-F238E27FC236}">
                <a16:creationId xmlns:a16="http://schemas.microsoft.com/office/drawing/2014/main" id="{363E310B-51FD-0B82-2339-A27CFE617E16}"/>
              </a:ext>
            </a:extLst>
          </p:cNvPr>
          <p:cNvSpPr txBox="1"/>
          <p:nvPr/>
        </p:nvSpPr>
        <p:spPr>
          <a:xfrm>
            <a:off x="398206" y="530942"/>
            <a:ext cx="11282517" cy="1938992"/>
          </a:xfrm>
          <a:prstGeom prst="rect">
            <a:avLst/>
          </a:prstGeom>
          <a:noFill/>
        </p:spPr>
        <p:txBody>
          <a:bodyPr wrap="square" rtlCol="0">
            <a:spAutoFit/>
          </a:bodyPr>
          <a:lstStyle/>
          <a:p>
            <a:r>
              <a:rPr lang="en-US" sz="3200" b="1"/>
              <a:t>High-level System Architecture</a:t>
            </a:r>
          </a:p>
          <a:p>
            <a:endParaRPr lang="en-US" sz="3200" b="1"/>
          </a:p>
          <a:p>
            <a:endParaRPr lang="en-US" sz="2400"/>
          </a:p>
          <a:p>
            <a:endParaRPr lang="en-IN" sz="3200" b="1"/>
          </a:p>
        </p:txBody>
      </p:sp>
      <p:sp>
        <p:nvSpPr>
          <p:cNvPr id="6" name="TextBox 5">
            <a:extLst>
              <a:ext uri="{FF2B5EF4-FFF2-40B4-BE49-F238E27FC236}">
                <a16:creationId xmlns:a16="http://schemas.microsoft.com/office/drawing/2014/main" id="{16A38DD9-9028-BCB6-682C-689D8BF555E0}"/>
              </a:ext>
            </a:extLst>
          </p:cNvPr>
          <p:cNvSpPr txBox="1"/>
          <p:nvPr/>
        </p:nvSpPr>
        <p:spPr>
          <a:xfrm>
            <a:off x="5338916" y="1313905"/>
            <a:ext cx="1976284" cy="646331"/>
          </a:xfrm>
          <a:prstGeom prst="rect">
            <a:avLst/>
          </a:prstGeom>
          <a:noFill/>
        </p:spPr>
        <p:txBody>
          <a:bodyPr wrap="square" rtlCol="0">
            <a:spAutoFit/>
          </a:bodyPr>
          <a:lstStyle/>
          <a:p>
            <a:r>
              <a:rPr lang="en-IN"/>
              <a:t>USER / LINK </a:t>
            </a:r>
          </a:p>
          <a:p>
            <a:r>
              <a:rPr lang="en-IN"/>
              <a:t> SMS / Web Link </a:t>
            </a:r>
          </a:p>
        </p:txBody>
      </p:sp>
      <p:sp>
        <p:nvSpPr>
          <p:cNvPr id="10" name="Rectangle 9">
            <a:extLst>
              <a:ext uri="{FF2B5EF4-FFF2-40B4-BE49-F238E27FC236}">
                <a16:creationId xmlns:a16="http://schemas.microsoft.com/office/drawing/2014/main" id="{59CB8AB4-B6C0-395A-D072-2571FA2DF51A}"/>
              </a:ext>
            </a:extLst>
          </p:cNvPr>
          <p:cNvSpPr/>
          <p:nvPr/>
        </p:nvSpPr>
        <p:spPr>
          <a:xfrm>
            <a:off x="5191432" y="1313905"/>
            <a:ext cx="1976284" cy="646331"/>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cxnSp>
        <p:nvCxnSpPr>
          <p:cNvPr id="12" name="Straight Arrow Connector 11">
            <a:extLst>
              <a:ext uri="{FF2B5EF4-FFF2-40B4-BE49-F238E27FC236}">
                <a16:creationId xmlns:a16="http://schemas.microsoft.com/office/drawing/2014/main" id="{C2BBCFBD-2E1C-D073-51E0-2C574B39F81C}"/>
              </a:ext>
            </a:extLst>
          </p:cNvPr>
          <p:cNvCxnSpPr/>
          <p:nvPr/>
        </p:nvCxnSpPr>
        <p:spPr>
          <a:xfrm>
            <a:off x="6150077" y="1960236"/>
            <a:ext cx="0" cy="5096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5" name="TextBox 14">
            <a:extLst>
              <a:ext uri="{FF2B5EF4-FFF2-40B4-BE49-F238E27FC236}">
                <a16:creationId xmlns:a16="http://schemas.microsoft.com/office/drawing/2014/main" id="{775608BD-A03A-BF22-4451-7AE9796D67D6}"/>
              </a:ext>
            </a:extLst>
          </p:cNvPr>
          <p:cNvSpPr txBox="1"/>
          <p:nvPr/>
        </p:nvSpPr>
        <p:spPr>
          <a:xfrm>
            <a:off x="4616248" y="2469935"/>
            <a:ext cx="3628100" cy="646331"/>
          </a:xfrm>
          <a:prstGeom prst="rect">
            <a:avLst/>
          </a:prstGeom>
          <a:noFill/>
        </p:spPr>
        <p:txBody>
          <a:bodyPr wrap="square" rtlCol="0">
            <a:spAutoFit/>
          </a:bodyPr>
          <a:lstStyle/>
          <a:p>
            <a:r>
              <a:rPr lang="en-IN" dirty="0"/>
              <a:t>   SENTINELSHIELD AI  APP </a:t>
            </a:r>
          </a:p>
          <a:p>
            <a:endParaRPr lang="en-IN" dirty="0"/>
          </a:p>
        </p:txBody>
      </p:sp>
      <p:sp>
        <p:nvSpPr>
          <p:cNvPr id="16" name="Rectangle 15">
            <a:extLst>
              <a:ext uri="{FF2B5EF4-FFF2-40B4-BE49-F238E27FC236}">
                <a16:creationId xmlns:a16="http://schemas.microsoft.com/office/drawing/2014/main" id="{7D8A2350-A1A8-D20D-AACF-8BCCC8BF7D69}"/>
              </a:ext>
            </a:extLst>
          </p:cNvPr>
          <p:cNvSpPr/>
          <p:nvPr/>
        </p:nvSpPr>
        <p:spPr>
          <a:xfrm>
            <a:off x="4336026" y="2469935"/>
            <a:ext cx="3628100" cy="410358"/>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cxnSp>
        <p:nvCxnSpPr>
          <p:cNvPr id="18" name="Straight Arrow Connector 17">
            <a:extLst>
              <a:ext uri="{FF2B5EF4-FFF2-40B4-BE49-F238E27FC236}">
                <a16:creationId xmlns:a16="http://schemas.microsoft.com/office/drawing/2014/main" id="{C2950233-167C-84A4-E5C1-E1FA83EDC037}"/>
              </a:ext>
            </a:extLst>
          </p:cNvPr>
          <p:cNvCxnSpPr>
            <a:cxnSpLocks/>
            <a:stCxn id="16" idx="2"/>
          </p:cNvCxnSpPr>
          <p:nvPr/>
        </p:nvCxnSpPr>
        <p:spPr>
          <a:xfrm>
            <a:off x="6150076" y="2880293"/>
            <a:ext cx="1" cy="76691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1" name="Rectangle 20">
            <a:extLst>
              <a:ext uri="{FF2B5EF4-FFF2-40B4-BE49-F238E27FC236}">
                <a16:creationId xmlns:a16="http://schemas.microsoft.com/office/drawing/2014/main" id="{4FD1A03F-5F23-F10A-B4E8-D11ADB31F1DE}"/>
              </a:ext>
            </a:extLst>
          </p:cNvPr>
          <p:cNvSpPr/>
          <p:nvPr/>
        </p:nvSpPr>
        <p:spPr>
          <a:xfrm>
            <a:off x="4454013" y="3647208"/>
            <a:ext cx="3628095" cy="729376"/>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cxnSp>
        <p:nvCxnSpPr>
          <p:cNvPr id="23" name="Straight Arrow Connector 22">
            <a:extLst>
              <a:ext uri="{FF2B5EF4-FFF2-40B4-BE49-F238E27FC236}">
                <a16:creationId xmlns:a16="http://schemas.microsoft.com/office/drawing/2014/main" id="{4BD8411F-2EA7-AC4A-4E5D-86F504AC8392}"/>
              </a:ext>
            </a:extLst>
          </p:cNvPr>
          <p:cNvCxnSpPr>
            <a:cxnSpLocks/>
            <a:endCxn id="43" idx="0"/>
          </p:cNvCxnSpPr>
          <p:nvPr/>
        </p:nvCxnSpPr>
        <p:spPr>
          <a:xfrm>
            <a:off x="6150076" y="4376584"/>
            <a:ext cx="14748" cy="53094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4" name="Rectangle 23">
            <a:extLst>
              <a:ext uri="{FF2B5EF4-FFF2-40B4-BE49-F238E27FC236}">
                <a16:creationId xmlns:a16="http://schemas.microsoft.com/office/drawing/2014/main" id="{1EE43FE3-42B5-0DE6-1C82-D58E0A063A99}"/>
              </a:ext>
            </a:extLst>
          </p:cNvPr>
          <p:cNvSpPr/>
          <p:nvPr/>
        </p:nvSpPr>
        <p:spPr>
          <a:xfrm>
            <a:off x="4881716" y="4879009"/>
            <a:ext cx="2684204" cy="459908"/>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cxnSp>
        <p:nvCxnSpPr>
          <p:cNvPr id="26" name="Straight Arrow Connector 25">
            <a:extLst>
              <a:ext uri="{FF2B5EF4-FFF2-40B4-BE49-F238E27FC236}">
                <a16:creationId xmlns:a16="http://schemas.microsoft.com/office/drawing/2014/main" id="{589C8770-D124-5C8C-6249-7362BFB55423}"/>
              </a:ext>
            </a:extLst>
          </p:cNvPr>
          <p:cNvCxnSpPr>
            <a:cxnSpLocks/>
          </p:cNvCxnSpPr>
          <p:nvPr/>
        </p:nvCxnSpPr>
        <p:spPr>
          <a:xfrm>
            <a:off x="6150075" y="5326944"/>
            <a:ext cx="2" cy="43814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7" name="Rectangle 26">
            <a:extLst>
              <a:ext uri="{FF2B5EF4-FFF2-40B4-BE49-F238E27FC236}">
                <a16:creationId xmlns:a16="http://schemas.microsoft.com/office/drawing/2014/main" id="{F7217473-E757-EFA9-DD41-B153937D05D1}"/>
              </a:ext>
            </a:extLst>
          </p:cNvPr>
          <p:cNvSpPr/>
          <p:nvPr/>
        </p:nvSpPr>
        <p:spPr>
          <a:xfrm>
            <a:off x="4763730" y="5736018"/>
            <a:ext cx="2684202" cy="724456"/>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cxnSp>
        <p:nvCxnSpPr>
          <p:cNvPr id="33" name="Straight Arrow Connector 32">
            <a:extLst>
              <a:ext uri="{FF2B5EF4-FFF2-40B4-BE49-F238E27FC236}">
                <a16:creationId xmlns:a16="http://schemas.microsoft.com/office/drawing/2014/main" id="{E161F4AB-A610-B56D-2A27-5F22F2E93167}"/>
              </a:ext>
            </a:extLst>
          </p:cNvPr>
          <p:cNvCxnSpPr/>
          <p:nvPr/>
        </p:nvCxnSpPr>
        <p:spPr>
          <a:xfrm>
            <a:off x="6150076" y="6460473"/>
            <a:ext cx="1" cy="51619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4" name="Rectangle 33">
            <a:extLst>
              <a:ext uri="{FF2B5EF4-FFF2-40B4-BE49-F238E27FC236}">
                <a16:creationId xmlns:a16="http://schemas.microsoft.com/office/drawing/2014/main" id="{B7BC9D7D-FAC7-DD40-5EEC-912ABA7BCAA9}"/>
              </a:ext>
            </a:extLst>
          </p:cNvPr>
          <p:cNvSpPr/>
          <p:nvPr/>
        </p:nvSpPr>
        <p:spPr>
          <a:xfrm>
            <a:off x="4881716" y="6976667"/>
            <a:ext cx="2684205" cy="811161"/>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cxnSp>
        <p:nvCxnSpPr>
          <p:cNvPr id="40" name="Straight Arrow Connector 39">
            <a:extLst>
              <a:ext uri="{FF2B5EF4-FFF2-40B4-BE49-F238E27FC236}">
                <a16:creationId xmlns:a16="http://schemas.microsoft.com/office/drawing/2014/main" id="{D0F95DE6-9150-88AB-8D27-0D6B2CDB8CE4}"/>
              </a:ext>
            </a:extLst>
          </p:cNvPr>
          <p:cNvCxnSpPr>
            <a:stCxn id="34" idx="2"/>
          </p:cNvCxnSpPr>
          <p:nvPr/>
        </p:nvCxnSpPr>
        <p:spPr>
          <a:xfrm flipH="1">
            <a:off x="6223818" y="7787828"/>
            <a:ext cx="1" cy="51619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1" name="Rectangle 40">
            <a:extLst>
              <a:ext uri="{FF2B5EF4-FFF2-40B4-BE49-F238E27FC236}">
                <a16:creationId xmlns:a16="http://schemas.microsoft.com/office/drawing/2014/main" id="{BCBA7F70-2B20-8D0D-E0DB-FC54FE6854C4}"/>
              </a:ext>
            </a:extLst>
          </p:cNvPr>
          <p:cNvSpPr/>
          <p:nvPr/>
        </p:nvSpPr>
        <p:spPr>
          <a:xfrm>
            <a:off x="4763730" y="8304022"/>
            <a:ext cx="3008668" cy="811161"/>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42" name="TextBox 41">
            <a:extLst>
              <a:ext uri="{FF2B5EF4-FFF2-40B4-BE49-F238E27FC236}">
                <a16:creationId xmlns:a16="http://schemas.microsoft.com/office/drawing/2014/main" id="{34053FAE-4D03-D2BF-7FC5-6AB97953EFCD}"/>
              </a:ext>
            </a:extLst>
          </p:cNvPr>
          <p:cNvSpPr txBox="1"/>
          <p:nvPr/>
        </p:nvSpPr>
        <p:spPr>
          <a:xfrm>
            <a:off x="4748981" y="3834581"/>
            <a:ext cx="3023417" cy="369332"/>
          </a:xfrm>
          <a:prstGeom prst="rect">
            <a:avLst/>
          </a:prstGeom>
          <a:noFill/>
        </p:spPr>
        <p:txBody>
          <a:bodyPr wrap="square" rtlCol="0">
            <a:spAutoFit/>
          </a:bodyPr>
          <a:lstStyle/>
          <a:p>
            <a:r>
              <a:rPr lang="en-IN"/>
              <a:t>    URL &amp; Domain  Analysis</a:t>
            </a:r>
          </a:p>
        </p:txBody>
      </p:sp>
      <p:sp>
        <p:nvSpPr>
          <p:cNvPr id="43" name="TextBox 42">
            <a:extLst>
              <a:ext uri="{FF2B5EF4-FFF2-40B4-BE49-F238E27FC236}">
                <a16:creationId xmlns:a16="http://schemas.microsoft.com/office/drawing/2014/main" id="{83C35627-DD44-FC27-7176-818FD29E31F9}"/>
              </a:ext>
            </a:extLst>
          </p:cNvPr>
          <p:cNvSpPr txBox="1"/>
          <p:nvPr/>
        </p:nvSpPr>
        <p:spPr>
          <a:xfrm>
            <a:off x="4881716" y="4907526"/>
            <a:ext cx="2566216" cy="369332"/>
          </a:xfrm>
          <a:prstGeom prst="rect">
            <a:avLst/>
          </a:prstGeom>
          <a:noFill/>
        </p:spPr>
        <p:txBody>
          <a:bodyPr wrap="square" rtlCol="0">
            <a:spAutoFit/>
          </a:bodyPr>
          <a:lstStyle/>
          <a:p>
            <a:r>
              <a:rPr lang="en-IN"/>
              <a:t>   AI + Threat  Intelligence</a:t>
            </a:r>
          </a:p>
        </p:txBody>
      </p:sp>
      <p:sp>
        <p:nvSpPr>
          <p:cNvPr id="44" name="TextBox 43">
            <a:extLst>
              <a:ext uri="{FF2B5EF4-FFF2-40B4-BE49-F238E27FC236}">
                <a16:creationId xmlns:a16="http://schemas.microsoft.com/office/drawing/2014/main" id="{97FEEF06-0257-18D4-3644-C669D3B0DEA3}"/>
              </a:ext>
            </a:extLst>
          </p:cNvPr>
          <p:cNvSpPr txBox="1"/>
          <p:nvPr/>
        </p:nvSpPr>
        <p:spPr>
          <a:xfrm>
            <a:off x="5029200" y="5824312"/>
            <a:ext cx="2286000" cy="369332"/>
          </a:xfrm>
          <a:prstGeom prst="rect">
            <a:avLst/>
          </a:prstGeom>
          <a:noFill/>
        </p:spPr>
        <p:txBody>
          <a:bodyPr wrap="square" rtlCol="0">
            <a:spAutoFit/>
          </a:bodyPr>
          <a:lstStyle/>
          <a:p>
            <a:r>
              <a:rPr lang="en-IN"/>
              <a:t>   Risk Assessment </a:t>
            </a:r>
          </a:p>
        </p:txBody>
      </p:sp>
      <p:sp>
        <p:nvSpPr>
          <p:cNvPr id="45" name="TextBox 44">
            <a:extLst>
              <a:ext uri="{FF2B5EF4-FFF2-40B4-BE49-F238E27FC236}">
                <a16:creationId xmlns:a16="http://schemas.microsoft.com/office/drawing/2014/main" id="{F9E9B493-8E5B-9A78-4DD1-7A197FC6F37E}"/>
              </a:ext>
            </a:extLst>
          </p:cNvPr>
          <p:cNvSpPr txBox="1"/>
          <p:nvPr/>
        </p:nvSpPr>
        <p:spPr>
          <a:xfrm>
            <a:off x="5191432" y="7094655"/>
            <a:ext cx="2123768" cy="646331"/>
          </a:xfrm>
          <a:prstGeom prst="rect">
            <a:avLst/>
          </a:prstGeom>
          <a:noFill/>
        </p:spPr>
        <p:txBody>
          <a:bodyPr wrap="square" rtlCol="0">
            <a:spAutoFit/>
          </a:bodyPr>
          <a:lstStyle/>
          <a:p>
            <a:r>
              <a:rPr lang="en-IN"/>
              <a:t>      Security Alert </a:t>
            </a:r>
          </a:p>
          <a:p>
            <a:r>
              <a:rPr lang="en-IN"/>
              <a:t> BLOCK / CONTINUE  </a:t>
            </a:r>
          </a:p>
        </p:txBody>
      </p:sp>
      <p:sp>
        <p:nvSpPr>
          <p:cNvPr id="46" name="TextBox 45">
            <a:extLst>
              <a:ext uri="{FF2B5EF4-FFF2-40B4-BE49-F238E27FC236}">
                <a16:creationId xmlns:a16="http://schemas.microsoft.com/office/drawing/2014/main" id="{EF139F33-FDA5-38AB-DAF1-352836393025}"/>
              </a:ext>
            </a:extLst>
          </p:cNvPr>
          <p:cNvSpPr txBox="1"/>
          <p:nvPr/>
        </p:nvSpPr>
        <p:spPr>
          <a:xfrm>
            <a:off x="5029200" y="8394666"/>
            <a:ext cx="2536721" cy="646331"/>
          </a:xfrm>
          <a:prstGeom prst="rect">
            <a:avLst/>
          </a:prstGeom>
          <a:noFill/>
        </p:spPr>
        <p:txBody>
          <a:bodyPr wrap="square" rtlCol="0">
            <a:spAutoFit/>
          </a:bodyPr>
          <a:lstStyle/>
          <a:p>
            <a:r>
              <a:rPr lang="en-IN"/>
              <a:t>FastAPI │ AWS │ SQLite  Backend Infrastructure </a:t>
            </a:r>
          </a:p>
        </p:txBody>
      </p:sp>
    </p:spTree>
    <p:extLst>
      <p:ext uri="{BB962C8B-B14F-4D97-AF65-F5344CB8AC3E}">
        <p14:creationId xmlns:p14="http://schemas.microsoft.com/office/powerpoint/2010/main" val="2082167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33BA0AF-F552-3742-0928-73ED0E33F09E}"/>
              </a:ext>
            </a:extLst>
          </p:cNvPr>
          <p:cNvPicPr>
            <a:picLocks noChangeAspect="1"/>
          </p:cNvPicPr>
          <p:nvPr/>
        </p:nvPicPr>
        <p:blipFill>
          <a:blip r:embed="rId2"/>
          <a:stretch>
            <a:fillRect/>
          </a:stretch>
        </p:blipFill>
        <p:spPr>
          <a:xfrm>
            <a:off x="1" y="0"/>
            <a:ext cx="18287999" cy="10287001"/>
          </a:xfrm>
          <a:prstGeom prst="rect">
            <a:avLst/>
          </a:prstGeom>
        </p:spPr>
      </p:pic>
      <p:sp>
        <p:nvSpPr>
          <p:cNvPr id="4" name="TextBox 3">
            <a:extLst>
              <a:ext uri="{FF2B5EF4-FFF2-40B4-BE49-F238E27FC236}">
                <a16:creationId xmlns:a16="http://schemas.microsoft.com/office/drawing/2014/main" id="{500FD216-3EB4-7FAA-3836-EB34BF2D6DF6}"/>
              </a:ext>
            </a:extLst>
          </p:cNvPr>
          <p:cNvSpPr txBox="1"/>
          <p:nvPr/>
        </p:nvSpPr>
        <p:spPr>
          <a:xfrm>
            <a:off x="722671" y="309716"/>
            <a:ext cx="11267768" cy="3970318"/>
          </a:xfrm>
          <a:prstGeom prst="rect">
            <a:avLst/>
          </a:prstGeom>
          <a:noFill/>
        </p:spPr>
        <p:txBody>
          <a:bodyPr wrap="square" rtlCol="0">
            <a:spAutoFit/>
          </a:bodyPr>
          <a:lstStyle/>
          <a:p>
            <a:r>
              <a:rPr lang="en-US" sz="4400" b="1" dirty="0"/>
              <a:t>Architecture Diagram</a:t>
            </a:r>
          </a:p>
          <a:p>
            <a:endParaRPr lang="en-US" sz="4400" b="1" dirty="0"/>
          </a:p>
          <a:p>
            <a:r>
              <a:rPr lang="en-US" sz="3200" b="1" dirty="0"/>
              <a:t>Technical flow</a:t>
            </a:r>
          </a:p>
          <a:p>
            <a:endParaRPr lang="en-US" sz="4400" b="1" dirty="0"/>
          </a:p>
          <a:p>
            <a:endParaRPr lang="en-US" sz="4400" b="1" dirty="0"/>
          </a:p>
          <a:p>
            <a:endParaRPr lang="en-IN" sz="4400" b="1" dirty="0"/>
          </a:p>
        </p:txBody>
      </p:sp>
      <p:sp>
        <p:nvSpPr>
          <p:cNvPr id="5" name="Rectangle 4">
            <a:extLst>
              <a:ext uri="{FF2B5EF4-FFF2-40B4-BE49-F238E27FC236}">
                <a16:creationId xmlns:a16="http://schemas.microsoft.com/office/drawing/2014/main" id="{48B8D148-7873-270B-356D-F89D3B895B03}"/>
              </a:ext>
            </a:extLst>
          </p:cNvPr>
          <p:cNvSpPr/>
          <p:nvPr/>
        </p:nvSpPr>
        <p:spPr>
          <a:xfrm>
            <a:off x="4763731" y="2389237"/>
            <a:ext cx="2920171" cy="560439"/>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cxnSp>
        <p:nvCxnSpPr>
          <p:cNvPr id="7" name="Straight Arrow Connector 6">
            <a:extLst>
              <a:ext uri="{FF2B5EF4-FFF2-40B4-BE49-F238E27FC236}">
                <a16:creationId xmlns:a16="http://schemas.microsoft.com/office/drawing/2014/main" id="{731EFBE5-40AA-90C0-EDB4-D137B71659C9}"/>
              </a:ext>
            </a:extLst>
          </p:cNvPr>
          <p:cNvCxnSpPr/>
          <p:nvPr/>
        </p:nvCxnSpPr>
        <p:spPr>
          <a:xfrm>
            <a:off x="6164826" y="2949677"/>
            <a:ext cx="0" cy="56043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8" name="Rectangle 7">
            <a:extLst>
              <a:ext uri="{FF2B5EF4-FFF2-40B4-BE49-F238E27FC236}">
                <a16:creationId xmlns:a16="http://schemas.microsoft.com/office/drawing/2014/main" id="{45502933-8EFC-4B55-44B9-8AB132A52E55}"/>
              </a:ext>
            </a:extLst>
          </p:cNvPr>
          <p:cNvSpPr/>
          <p:nvPr/>
        </p:nvSpPr>
        <p:spPr>
          <a:xfrm>
            <a:off x="4527755" y="3510116"/>
            <a:ext cx="3406878" cy="56044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cxnSp>
        <p:nvCxnSpPr>
          <p:cNvPr id="10" name="Straight Arrow Connector 9">
            <a:extLst>
              <a:ext uri="{FF2B5EF4-FFF2-40B4-BE49-F238E27FC236}">
                <a16:creationId xmlns:a16="http://schemas.microsoft.com/office/drawing/2014/main" id="{8F094C1A-1FCB-69BA-31D7-1920CD30B570}"/>
              </a:ext>
            </a:extLst>
          </p:cNvPr>
          <p:cNvCxnSpPr/>
          <p:nvPr/>
        </p:nvCxnSpPr>
        <p:spPr>
          <a:xfrm>
            <a:off x="6164826" y="4070555"/>
            <a:ext cx="0" cy="44245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1" name="Rectangle 10">
            <a:extLst>
              <a:ext uri="{FF2B5EF4-FFF2-40B4-BE49-F238E27FC236}">
                <a16:creationId xmlns:a16="http://schemas.microsoft.com/office/drawing/2014/main" id="{E557B861-58D6-4450-3C6E-46A1735498F8}"/>
              </a:ext>
            </a:extLst>
          </p:cNvPr>
          <p:cNvSpPr/>
          <p:nvPr/>
        </p:nvSpPr>
        <p:spPr>
          <a:xfrm>
            <a:off x="4291786" y="4513006"/>
            <a:ext cx="4159038" cy="630494"/>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cxnSp>
        <p:nvCxnSpPr>
          <p:cNvPr id="13" name="Straight Arrow Connector 12">
            <a:extLst>
              <a:ext uri="{FF2B5EF4-FFF2-40B4-BE49-F238E27FC236}">
                <a16:creationId xmlns:a16="http://schemas.microsoft.com/office/drawing/2014/main" id="{7012BE3F-9808-A0DC-4532-C35D45B2F911}"/>
              </a:ext>
            </a:extLst>
          </p:cNvPr>
          <p:cNvCxnSpPr/>
          <p:nvPr/>
        </p:nvCxnSpPr>
        <p:spPr>
          <a:xfrm>
            <a:off x="6164826" y="5143500"/>
            <a:ext cx="0" cy="43139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4" name="Rectangle 13">
            <a:extLst>
              <a:ext uri="{FF2B5EF4-FFF2-40B4-BE49-F238E27FC236}">
                <a16:creationId xmlns:a16="http://schemas.microsoft.com/office/drawing/2014/main" id="{7B84A645-4520-DC05-3F4D-6C168AAD1E2B}"/>
              </a:ext>
            </a:extLst>
          </p:cNvPr>
          <p:cNvSpPr/>
          <p:nvPr/>
        </p:nvSpPr>
        <p:spPr>
          <a:xfrm>
            <a:off x="3834580" y="5574890"/>
            <a:ext cx="4970199" cy="575187"/>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cxnSp>
        <p:nvCxnSpPr>
          <p:cNvPr id="16" name="Straight Arrow Connector 15">
            <a:extLst>
              <a:ext uri="{FF2B5EF4-FFF2-40B4-BE49-F238E27FC236}">
                <a16:creationId xmlns:a16="http://schemas.microsoft.com/office/drawing/2014/main" id="{2F634B18-82C8-40A9-6AAC-C8893571A197}"/>
              </a:ext>
            </a:extLst>
          </p:cNvPr>
          <p:cNvCxnSpPr/>
          <p:nvPr/>
        </p:nvCxnSpPr>
        <p:spPr>
          <a:xfrm>
            <a:off x="6164826" y="6150077"/>
            <a:ext cx="0" cy="44245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7" name="Rectangle 16">
            <a:extLst>
              <a:ext uri="{FF2B5EF4-FFF2-40B4-BE49-F238E27FC236}">
                <a16:creationId xmlns:a16="http://schemas.microsoft.com/office/drawing/2014/main" id="{EC96414E-252F-75D6-BE86-313FAB1A5E06}"/>
              </a:ext>
            </a:extLst>
          </p:cNvPr>
          <p:cNvSpPr/>
          <p:nvPr/>
        </p:nvSpPr>
        <p:spPr>
          <a:xfrm>
            <a:off x="4527755" y="6592530"/>
            <a:ext cx="3406878" cy="693174"/>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cxnSp>
        <p:nvCxnSpPr>
          <p:cNvPr id="21" name="Straight Arrow Connector 20">
            <a:extLst>
              <a:ext uri="{FF2B5EF4-FFF2-40B4-BE49-F238E27FC236}">
                <a16:creationId xmlns:a16="http://schemas.microsoft.com/office/drawing/2014/main" id="{6BE8AF8F-689A-4172-1972-625BCBFA21EC}"/>
              </a:ext>
            </a:extLst>
          </p:cNvPr>
          <p:cNvCxnSpPr/>
          <p:nvPr/>
        </p:nvCxnSpPr>
        <p:spPr>
          <a:xfrm>
            <a:off x="6164826" y="7285704"/>
            <a:ext cx="0" cy="45719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2" name="Rectangle 21">
            <a:extLst>
              <a:ext uri="{FF2B5EF4-FFF2-40B4-BE49-F238E27FC236}">
                <a16:creationId xmlns:a16="http://schemas.microsoft.com/office/drawing/2014/main" id="{BCE44B4F-625A-8BD1-D3A4-2FF14CB36A66}"/>
              </a:ext>
            </a:extLst>
          </p:cNvPr>
          <p:cNvSpPr/>
          <p:nvPr/>
        </p:nvSpPr>
        <p:spPr>
          <a:xfrm>
            <a:off x="4527754" y="7728158"/>
            <a:ext cx="3406879" cy="70792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cxnSp>
        <p:nvCxnSpPr>
          <p:cNvPr id="26" name="Straight Arrow Connector 25">
            <a:extLst>
              <a:ext uri="{FF2B5EF4-FFF2-40B4-BE49-F238E27FC236}">
                <a16:creationId xmlns:a16="http://schemas.microsoft.com/office/drawing/2014/main" id="{CD2C3B7B-6067-70C4-E7F4-3402B7933AEB}"/>
              </a:ext>
            </a:extLst>
          </p:cNvPr>
          <p:cNvCxnSpPr/>
          <p:nvPr/>
        </p:nvCxnSpPr>
        <p:spPr>
          <a:xfrm>
            <a:off x="6061587" y="8436078"/>
            <a:ext cx="0" cy="44245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8" name="Rectangle 27">
            <a:extLst>
              <a:ext uri="{FF2B5EF4-FFF2-40B4-BE49-F238E27FC236}">
                <a16:creationId xmlns:a16="http://schemas.microsoft.com/office/drawing/2014/main" id="{93C3A814-640C-A9A8-6B19-049849F7A0E3}"/>
              </a:ext>
            </a:extLst>
          </p:cNvPr>
          <p:cNvSpPr/>
          <p:nvPr/>
        </p:nvSpPr>
        <p:spPr>
          <a:xfrm>
            <a:off x="4763731" y="8878528"/>
            <a:ext cx="2757945" cy="811161"/>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29" name="TextBox 28">
            <a:extLst>
              <a:ext uri="{FF2B5EF4-FFF2-40B4-BE49-F238E27FC236}">
                <a16:creationId xmlns:a16="http://schemas.microsoft.com/office/drawing/2014/main" id="{B0574CC8-D84F-9AF8-7B79-5EC3DA7F6C90}"/>
              </a:ext>
            </a:extLst>
          </p:cNvPr>
          <p:cNvSpPr txBox="1"/>
          <p:nvPr/>
        </p:nvSpPr>
        <p:spPr>
          <a:xfrm>
            <a:off x="4291786" y="2462981"/>
            <a:ext cx="3642846" cy="369332"/>
          </a:xfrm>
          <a:prstGeom prst="rect">
            <a:avLst/>
          </a:prstGeom>
          <a:noFill/>
        </p:spPr>
        <p:txBody>
          <a:bodyPr wrap="square" rtlCol="0">
            <a:spAutoFit/>
          </a:bodyPr>
          <a:lstStyle/>
          <a:p>
            <a:r>
              <a:rPr lang="en-US"/>
              <a:t>              USER CLICKS LINK  </a:t>
            </a:r>
            <a:endParaRPr lang="en-IN"/>
          </a:p>
        </p:txBody>
      </p:sp>
      <p:sp>
        <p:nvSpPr>
          <p:cNvPr id="31" name="TextBox 30">
            <a:extLst>
              <a:ext uri="{FF2B5EF4-FFF2-40B4-BE49-F238E27FC236}">
                <a16:creationId xmlns:a16="http://schemas.microsoft.com/office/drawing/2014/main" id="{9D038572-C960-DC90-CFBD-8BE0370BD966}"/>
              </a:ext>
            </a:extLst>
          </p:cNvPr>
          <p:cNvSpPr txBox="1"/>
          <p:nvPr/>
        </p:nvSpPr>
        <p:spPr>
          <a:xfrm>
            <a:off x="4527755" y="3510116"/>
            <a:ext cx="3406877" cy="369332"/>
          </a:xfrm>
          <a:prstGeom prst="rect">
            <a:avLst/>
          </a:prstGeom>
          <a:noFill/>
        </p:spPr>
        <p:txBody>
          <a:bodyPr wrap="square" rtlCol="0">
            <a:spAutoFit/>
          </a:bodyPr>
          <a:lstStyle/>
          <a:p>
            <a:r>
              <a:rPr lang="en-US"/>
              <a:t>            URL EXTRACTION</a:t>
            </a:r>
            <a:endParaRPr lang="en-IN"/>
          </a:p>
        </p:txBody>
      </p:sp>
      <p:sp>
        <p:nvSpPr>
          <p:cNvPr id="32" name="TextBox 31">
            <a:extLst>
              <a:ext uri="{FF2B5EF4-FFF2-40B4-BE49-F238E27FC236}">
                <a16:creationId xmlns:a16="http://schemas.microsoft.com/office/drawing/2014/main" id="{68A159D2-E193-EE58-3A1C-94F6741614FB}"/>
              </a:ext>
            </a:extLst>
          </p:cNvPr>
          <p:cNvSpPr txBox="1"/>
          <p:nvPr/>
        </p:nvSpPr>
        <p:spPr>
          <a:xfrm>
            <a:off x="4527755" y="4513006"/>
            <a:ext cx="3598607" cy="369332"/>
          </a:xfrm>
          <a:prstGeom prst="rect">
            <a:avLst/>
          </a:prstGeom>
          <a:noFill/>
        </p:spPr>
        <p:txBody>
          <a:bodyPr wrap="square" rtlCol="0">
            <a:spAutoFit/>
          </a:bodyPr>
          <a:lstStyle/>
          <a:p>
            <a:r>
              <a:rPr lang="en-US"/>
              <a:t>         FEATURE EXTRACTION</a:t>
            </a:r>
            <a:endParaRPr lang="en-IN"/>
          </a:p>
        </p:txBody>
      </p:sp>
      <p:sp>
        <p:nvSpPr>
          <p:cNvPr id="33" name="TextBox 32">
            <a:extLst>
              <a:ext uri="{FF2B5EF4-FFF2-40B4-BE49-F238E27FC236}">
                <a16:creationId xmlns:a16="http://schemas.microsoft.com/office/drawing/2014/main" id="{9AE02888-A4D9-1929-D2D1-6281EE95442F}"/>
              </a:ext>
            </a:extLst>
          </p:cNvPr>
          <p:cNvSpPr txBox="1"/>
          <p:nvPr/>
        </p:nvSpPr>
        <p:spPr>
          <a:xfrm>
            <a:off x="4291786" y="5574890"/>
            <a:ext cx="3952562" cy="369332"/>
          </a:xfrm>
          <a:prstGeom prst="rect">
            <a:avLst/>
          </a:prstGeom>
          <a:noFill/>
        </p:spPr>
        <p:txBody>
          <a:bodyPr wrap="square" rtlCol="0">
            <a:spAutoFit/>
          </a:bodyPr>
          <a:lstStyle/>
          <a:p>
            <a:r>
              <a:rPr lang="en-US"/>
              <a:t>            AI PHISING DETECTION</a:t>
            </a:r>
            <a:endParaRPr lang="en-IN"/>
          </a:p>
        </p:txBody>
      </p:sp>
      <p:sp>
        <p:nvSpPr>
          <p:cNvPr id="34" name="TextBox 33">
            <a:extLst>
              <a:ext uri="{FF2B5EF4-FFF2-40B4-BE49-F238E27FC236}">
                <a16:creationId xmlns:a16="http://schemas.microsoft.com/office/drawing/2014/main" id="{5A6040B9-0AAA-DCDC-C521-E0E8F78EE3DF}"/>
              </a:ext>
            </a:extLst>
          </p:cNvPr>
          <p:cNvSpPr txBox="1"/>
          <p:nvPr/>
        </p:nvSpPr>
        <p:spPr>
          <a:xfrm>
            <a:off x="4291786" y="6592530"/>
            <a:ext cx="3834575" cy="369332"/>
          </a:xfrm>
          <a:prstGeom prst="rect">
            <a:avLst/>
          </a:prstGeom>
          <a:noFill/>
        </p:spPr>
        <p:txBody>
          <a:bodyPr wrap="square" rtlCol="0">
            <a:spAutoFit/>
          </a:bodyPr>
          <a:lstStyle/>
          <a:p>
            <a:r>
              <a:rPr lang="en-US"/>
              <a:t>         THREAT INTEL. VERIFICATION</a:t>
            </a:r>
            <a:endParaRPr lang="en-IN"/>
          </a:p>
        </p:txBody>
      </p:sp>
      <p:sp>
        <p:nvSpPr>
          <p:cNvPr id="35" name="TextBox 34">
            <a:extLst>
              <a:ext uri="{FF2B5EF4-FFF2-40B4-BE49-F238E27FC236}">
                <a16:creationId xmlns:a16="http://schemas.microsoft.com/office/drawing/2014/main" id="{5F69A589-33DA-3743-AFED-7D8C5D4DD165}"/>
              </a:ext>
            </a:extLst>
          </p:cNvPr>
          <p:cNvSpPr txBox="1"/>
          <p:nvPr/>
        </p:nvSpPr>
        <p:spPr>
          <a:xfrm>
            <a:off x="4527755" y="7742903"/>
            <a:ext cx="3406877" cy="369332"/>
          </a:xfrm>
          <a:prstGeom prst="rect">
            <a:avLst/>
          </a:prstGeom>
          <a:noFill/>
        </p:spPr>
        <p:txBody>
          <a:bodyPr wrap="square" rtlCol="0">
            <a:spAutoFit/>
          </a:bodyPr>
          <a:lstStyle/>
          <a:p>
            <a:r>
              <a:rPr lang="en-US"/>
              <a:t>  RISK AND SCORE CLARIFICATION</a:t>
            </a:r>
            <a:endParaRPr lang="en-IN"/>
          </a:p>
        </p:txBody>
      </p:sp>
      <p:sp>
        <p:nvSpPr>
          <p:cNvPr id="36" name="TextBox 35">
            <a:extLst>
              <a:ext uri="{FF2B5EF4-FFF2-40B4-BE49-F238E27FC236}">
                <a16:creationId xmlns:a16="http://schemas.microsoft.com/office/drawing/2014/main" id="{ADAE584B-6FC4-B53E-9558-5C5C78675FC7}"/>
              </a:ext>
            </a:extLst>
          </p:cNvPr>
          <p:cNvSpPr txBox="1"/>
          <p:nvPr/>
        </p:nvSpPr>
        <p:spPr>
          <a:xfrm>
            <a:off x="4955458" y="8878529"/>
            <a:ext cx="1991029" cy="646331"/>
          </a:xfrm>
          <a:prstGeom prst="rect">
            <a:avLst/>
          </a:prstGeom>
          <a:noFill/>
        </p:spPr>
        <p:txBody>
          <a:bodyPr wrap="square" rtlCol="0">
            <a:spAutoFit/>
          </a:bodyPr>
          <a:lstStyle/>
          <a:p>
            <a:r>
              <a:rPr lang="en-US"/>
              <a:t>   SECURITY ALERT</a:t>
            </a:r>
          </a:p>
          <a:p>
            <a:r>
              <a:rPr lang="en-US"/>
              <a:t>  BLOCK/CONTINUE</a:t>
            </a:r>
            <a:endParaRPr lang="en-IN"/>
          </a:p>
        </p:txBody>
      </p:sp>
    </p:spTree>
    <p:extLst>
      <p:ext uri="{BB962C8B-B14F-4D97-AF65-F5344CB8AC3E}">
        <p14:creationId xmlns:p14="http://schemas.microsoft.com/office/powerpoint/2010/main" val="5291775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54A946C-E742-2AF9-397E-BA181B105894}"/>
              </a:ext>
            </a:extLst>
          </p:cNvPr>
          <p:cNvPicPr>
            <a:picLocks noChangeAspect="1"/>
          </p:cNvPicPr>
          <p:nvPr/>
        </p:nvPicPr>
        <p:blipFill>
          <a:blip r:embed="rId2"/>
          <a:stretch>
            <a:fillRect/>
          </a:stretch>
        </p:blipFill>
        <p:spPr>
          <a:xfrm>
            <a:off x="0" y="0"/>
            <a:ext cx="18288000" cy="10287000"/>
          </a:xfrm>
          <a:prstGeom prst="rect">
            <a:avLst/>
          </a:prstGeom>
        </p:spPr>
      </p:pic>
      <p:sp>
        <p:nvSpPr>
          <p:cNvPr id="8" name="TextBox 7">
            <a:extLst>
              <a:ext uri="{FF2B5EF4-FFF2-40B4-BE49-F238E27FC236}">
                <a16:creationId xmlns:a16="http://schemas.microsoft.com/office/drawing/2014/main" id="{CF672072-D48B-171B-67FF-AED68EE45CD2}"/>
              </a:ext>
            </a:extLst>
          </p:cNvPr>
          <p:cNvSpPr txBox="1"/>
          <p:nvPr/>
        </p:nvSpPr>
        <p:spPr>
          <a:xfrm>
            <a:off x="811162" y="663678"/>
            <a:ext cx="10722078" cy="8125301"/>
          </a:xfrm>
          <a:prstGeom prst="rect">
            <a:avLst/>
          </a:prstGeom>
          <a:noFill/>
        </p:spPr>
        <p:txBody>
          <a:bodyPr wrap="square" rtlCol="0">
            <a:spAutoFit/>
          </a:bodyPr>
          <a:lstStyle/>
          <a:p>
            <a:r>
              <a:rPr lang="en-IN" sz="2400" b="1"/>
              <a:t>Frontend</a:t>
            </a:r>
          </a:p>
          <a:p>
            <a:pPr marL="342900" lvl="0" indent="-342900">
              <a:buFont typeface="Arial" panose="020B0604020202020204" pitchFamily="34" charset="0"/>
              <a:buChar char="•"/>
            </a:pPr>
            <a:r>
              <a:rPr lang="en-IN" sz="2400"/>
              <a:t>Flutter (Dart)</a:t>
            </a:r>
          </a:p>
          <a:p>
            <a:pPr marL="342900" lvl="0" indent="-342900">
              <a:buFont typeface="Arial" panose="020B0604020202020204" pitchFamily="34" charset="0"/>
              <a:buChar char="•"/>
            </a:pPr>
            <a:r>
              <a:rPr lang="en-IN" sz="2400"/>
              <a:t>Android SDK </a:t>
            </a:r>
          </a:p>
          <a:p>
            <a:pPr lvl="0"/>
            <a:endParaRPr lang="en-IN" sz="2400"/>
          </a:p>
          <a:p>
            <a:r>
              <a:rPr lang="en-IN" sz="2400" b="1"/>
              <a:t>Backend</a:t>
            </a:r>
          </a:p>
          <a:p>
            <a:pPr marL="342900" lvl="0" indent="-342900">
              <a:buFont typeface="Arial" panose="020B0604020202020204" pitchFamily="34" charset="0"/>
              <a:buChar char="•"/>
            </a:pPr>
            <a:r>
              <a:rPr lang="en-IN" sz="2400"/>
              <a:t>Python </a:t>
            </a:r>
          </a:p>
          <a:p>
            <a:pPr marL="342900" lvl="0" indent="-342900">
              <a:buFont typeface="Arial" panose="020B0604020202020204" pitchFamily="34" charset="0"/>
              <a:buChar char="•"/>
            </a:pPr>
            <a:r>
              <a:rPr lang="en-IN" sz="2400"/>
              <a:t>FastAPI</a:t>
            </a:r>
          </a:p>
          <a:p>
            <a:pPr lvl="0"/>
            <a:endParaRPr lang="en-IN" sz="2400"/>
          </a:p>
          <a:p>
            <a:r>
              <a:rPr lang="en-IN" sz="2400" b="1"/>
              <a:t>AI / ML</a:t>
            </a:r>
          </a:p>
          <a:p>
            <a:pPr marL="342900" lvl="0" indent="-342900">
              <a:buFont typeface="Arial" panose="020B0604020202020204" pitchFamily="34" charset="0"/>
              <a:buChar char="•"/>
            </a:pPr>
            <a:r>
              <a:rPr lang="en-IN" sz="2400"/>
              <a:t>XGBoost </a:t>
            </a:r>
          </a:p>
          <a:p>
            <a:pPr marL="342900" lvl="0" indent="-342900">
              <a:buFont typeface="Arial" panose="020B0604020202020204" pitchFamily="34" charset="0"/>
              <a:buChar char="•"/>
            </a:pPr>
            <a:r>
              <a:rPr lang="en-IN" sz="2400"/>
              <a:t>Scikit-learn </a:t>
            </a:r>
          </a:p>
          <a:p>
            <a:pPr lvl="0"/>
            <a:endParaRPr lang="en-IN" sz="2400"/>
          </a:p>
          <a:p>
            <a:r>
              <a:rPr lang="en-IN" sz="2400" b="1"/>
              <a:t>APIs</a:t>
            </a:r>
          </a:p>
          <a:p>
            <a:pPr marL="342900" lvl="0" indent="-342900">
              <a:buFont typeface="Arial" panose="020B0604020202020204" pitchFamily="34" charset="0"/>
              <a:buChar char="•"/>
            </a:pPr>
            <a:r>
              <a:rPr lang="en-IN" sz="2400"/>
              <a:t>Google Safe Browsing API </a:t>
            </a:r>
          </a:p>
          <a:p>
            <a:pPr marL="342900" lvl="0" indent="-342900">
              <a:buFont typeface="Arial" panose="020B0604020202020204" pitchFamily="34" charset="0"/>
              <a:buChar char="•"/>
            </a:pPr>
            <a:r>
              <a:rPr lang="en-IN" sz="2400"/>
              <a:t>REST API </a:t>
            </a:r>
          </a:p>
          <a:p>
            <a:pPr lvl="0"/>
            <a:endParaRPr lang="en-IN" sz="2400"/>
          </a:p>
          <a:p>
            <a:r>
              <a:rPr lang="en-IN" sz="2400" b="1"/>
              <a:t>Database</a:t>
            </a:r>
          </a:p>
          <a:p>
            <a:pPr marL="342900" lvl="0" indent="-342900">
              <a:buFont typeface="Arial" panose="020B0604020202020204" pitchFamily="34" charset="0"/>
              <a:buChar char="•"/>
            </a:pPr>
            <a:r>
              <a:rPr lang="en-IN" sz="2400"/>
              <a:t>SQLite </a:t>
            </a:r>
          </a:p>
          <a:p>
            <a:pPr lvl="0"/>
            <a:endParaRPr lang="en-IN" sz="2400"/>
          </a:p>
          <a:p>
            <a:r>
              <a:rPr lang="en-IN" sz="2400" b="1"/>
              <a:t>Deployment</a:t>
            </a:r>
          </a:p>
          <a:p>
            <a:pPr marL="342900" lvl="0" indent="-342900">
              <a:buFont typeface="Arial" panose="020B0604020202020204" pitchFamily="34" charset="0"/>
              <a:buChar char="•"/>
            </a:pPr>
            <a:r>
              <a:rPr lang="en-IN" sz="2400"/>
              <a:t>AWS </a:t>
            </a:r>
          </a:p>
          <a:p>
            <a:endParaRPr lang="en-IN"/>
          </a:p>
        </p:txBody>
      </p:sp>
    </p:spTree>
    <p:extLst>
      <p:ext uri="{BB962C8B-B14F-4D97-AF65-F5344CB8AC3E}">
        <p14:creationId xmlns:p14="http://schemas.microsoft.com/office/powerpoint/2010/main" val="22441982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333908F-D031-D6C0-4D0A-81673B44C4AF}"/>
              </a:ext>
            </a:extLst>
          </p:cNvPr>
          <p:cNvPicPr>
            <a:picLocks noChangeAspect="1"/>
          </p:cNvPicPr>
          <p:nvPr/>
        </p:nvPicPr>
        <p:blipFill>
          <a:blip r:embed="rId2"/>
          <a:stretch>
            <a:fillRect/>
          </a:stretch>
        </p:blipFill>
        <p:spPr>
          <a:xfrm>
            <a:off x="2708" y="0"/>
            <a:ext cx="18282583" cy="10287000"/>
          </a:xfrm>
          <a:prstGeom prst="rect">
            <a:avLst/>
          </a:prstGeom>
        </p:spPr>
      </p:pic>
      <p:sp>
        <p:nvSpPr>
          <p:cNvPr id="5" name="TextBox 4">
            <a:extLst>
              <a:ext uri="{FF2B5EF4-FFF2-40B4-BE49-F238E27FC236}">
                <a16:creationId xmlns:a16="http://schemas.microsoft.com/office/drawing/2014/main" id="{AED4B91E-C1A1-32DB-22D9-BE194602A3A0}"/>
              </a:ext>
            </a:extLst>
          </p:cNvPr>
          <p:cNvSpPr txBox="1"/>
          <p:nvPr/>
        </p:nvSpPr>
        <p:spPr>
          <a:xfrm>
            <a:off x="5663380" y="4203290"/>
            <a:ext cx="7831394" cy="923330"/>
          </a:xfrm>
          <a:prstGeom prst="rect">
            <a:avLst/>
          </a:prstGeom>
          <a:noFill/>
        </p:spPr>
        <p:txBody>
          <a:bodyPr wrap="square" rtlCol="0">
            <a:spAutoFit/>
          </a:bodyPr>
          <a:lstStyle/>
          <a:p>
            <a:r>
              <a:rPr lang="en-US" sz="4400" b="1"/>
              <a:t>    </a:t>
            </a:r>
            <a:r>
              <a:rPr lang="en-US" sz="5400" b="1"/>
              <a:t>THANK YOU!</a:t>
            </a:r>
            <a:endParaRPr lang="en-IN" sz="5400" b="1"/>
          </a:p>
        </p:txBody>
      </p:sp>
    </p:spTree>
    <p:extLst>
      <p:ext uri="{BB962C8B-B14F-4D97-AF65-F5344CB8AC3E}">
        <p14:creationId xmlns:p14="http://schemas.microsoft.com/office/powerpoint/2010/main" val="39714481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14</Slides>
  <Notes>0</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Roshni Shaik</cp:lastModifiedBy>
  <cp:revision>2</cp:revision>
  <dcterms:created xsi:type="dcterms:W3CDTF">2013-01-27T09:14:16Z</dcterms:created>
  <dcterms:modified xsi:type="dcterms:W3CDTF">2026-08-08T13:28:07Z</dcterms:modified>
  <cp:category/>
</cp:coreProperties>
</file>